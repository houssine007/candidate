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Bonjour. Monsieur le Président, Mesdames et Messieurs les membres du jury, je vous remercie de votre présence.</a:t>
            </a:r>
          </a:p>
          <a:p>
            <a:r>
              <a:t>Je vais vous présenter RecruitPRO, une plateforme RH intégrée conçue dans le cadre de l'IFDC de l'ONCF.</a:t>
            </a:r>
          </a:p>
          <a:p>
            <a:r>
              <a:t>Le fil conducteur de tout mon travail tient en une idée : faire vivre le référentiel de compétences.</a:t>
            </a:r>
          </a:p>
          <a:p>
            <a:r>
              <a:t>La présentation dure une quinzaine de minutes ; je terminerai par une démonstration et serai à votre disposition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L'ONCF est une grande organisation qui investit massivement dans le développement de ses collaborateurs.</a:t>
            </a:r>
          </a:p>
          <a:p>
            <a:r>
              <a:t>Mais dans la plupart des organisations, trois mondes coexistent sans se parler : le recrutement, la gestion de carrière, et la formation.</a:t>
            </a:r>
          </a:p>
          <a:p>
            <a:r>
              <a:t>Chacun a son outil, sa base, sa logique. La compétence — qui est pourtant l'actif central des RH — circule mal entre eux.</a:t>
            </a:r>
          </a:p>
          <a:p>
            <a:r>
              <a:t>Mon point de départ est donc simple : l'enjeu n'est pas l'outil, c'est la compétence, et sa capacité à rester à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cœur du problème. Dans presque tous les systèmes RH, le référentiel de compétences est un document figé.</a:t>
            </a:r>
          </a:p>
          <a:p>
            <a:r>
              <a:t>On le saisit une fois, à l'embauche ou lors d'un audit, puis on l'oublie. Il ne reflète plus ni les formations suivies, ni les mobilités, ni l'expérience acquise.</a:t>
            </a:r>
          </a:p>
          <a:p>
            <a:r>
              <a:t>Résultat : il se périme plus vite qu'on ne parvient à l'entretenir manuellement. On pilote les compétences avec une photo, alors qu'il faudrait un film.</a:t>
            </a:r>
          </a:p>
          <a:p>
            <a:r>
              <a:t>Ma question de recherche est donc : comment faire pour que ce référentiel se mette à jour tout seul, à partir de la vie réelle de l'organisation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cette question découlent quatre objectifs.</a:t>
            </a:r>
          </a:p>
          <a:p>
            <a:r>
              <a:t>Premièrement, unifier les trois mondes — recrutement, RH, formation — sous une seule identité numérique.</a:t>
            </a:r>
          </a:p>
          <a:p>
            <a:r>
              <a:t>Deuxièmement, et c'est le plus important, mettre à jour le référentiel automatiquement, à partir d'événements réels et non d'une saisie manuelle.</a:t>
            </a:r>
          </a:p>
          <a:p>
            <a:r>
              <a:t>Troisièmement, ne pas se limiter à « est-ce que le candidat correspond ? » mais aussi « peut-il évoluer ? ».</a:t>
            </a:r>
          </a:p>
          <a:p>
            <a:r>
              <a:t>Quatrièmement, garantir que le profil de compétences suive la personne, du statut de candidat à celui d'employé.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Qu'offre l'existant ? On peut le résumer en trois familles d'outils.</a:t>
            </a:r>
          </a:p>
          <a:p>
            <a:r>
              <a:t>Les ATS gèrent le recrutement, mais une fois la personne embauchée, le profil de compétences est abandonné.</a:t>
            </a:r>
          </a:p>
          <a:p>
            <a:r>
              <a:t>Les LMS dispensent de la formation, mais sans la relier au poste ni au besoin réel de l'organisation.</a:t>
            </a:r>
          </a:p>
          <a:p>
            <a:r>
              <a:t>Les SIRH stockent les données du personnel, mais comme une archive : ils ne font pas évoluer la compétence.</a:t>
            </a:r>
          </a:p>
          <a:p>
            <a:r>
              <a:t>Le constat est net : chacun fait bien sa part, mais aucun ne fait vivre le référentiel en reliant ces trois moments. C'est précisément l'espace que RecruitPRO occupe.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la vue d'ensemble. RecruitPRO n'est pas un logiciel monolithique : ce sont trois applications spécialisées.</a:t>
            </a:r>
          </a:p>
          <a:p>
            <a:r>
              <a:t>L'ATS pour le recrutement, le module RH et GPEC pour la mobilité interne, et le LMS pour la formation.</a:t>
            </a:r>
          </a:p>
          <a:p>
            <a:r>
              <a:t>Ce qui les unit, c'est l'élément du haut : une authentification unique, par un jeton JWT partagé. L'utilisateur se connecte une fois et circule entre les trois sans nouvelle authentification.</a:t>
            </a:r>
          </a:p>
          <a:p>
            <a:r>
              <a:t>Côté données : PostgreSQL pour les données structurées RH et ATS, MongoDB pour les contenus pédagogiques du LMS, qui sont plus souples.</a:t>
            </a:r>
          </a:p>
          <a:p>
            <a:r>
              <a:t>L'idée clé à retenir : une seule identité, trois services, et donc une cohérence possible entre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Nous arrivons au cœur du mémoire : le référentiel vivant.</a:t>
            </a:r>
          </a:p>
          <a:p>
            <a:r>
              <a:t>L'idée est de renverser la logique. Au lieu de mettre à jour les compétences à la main, on laisse trois événements de la vie de l'organisation les alimenter automatiquement.</a:t>
            </a:r>
          </a:p>
          <a:p>
            <a:r>
              <a:t>Premier événement : le recrutement — quand un candidat est intégré, son profil de compétences devient celui d'un employé.</a:t>
            </a:r>
          </a:p>
          <a:p>
            <a:r>
              <a:t>Deuxième : la mobilité interne — un changement de poste enrichit le profil.</a:t>
            </a:r>
          </a:p>
          <a:p>
            <a:r>
              <a:t>Troisième : la formation — une compétence validée dans le LMS remonte dans le référentiel.</a:t>
            </a:r>
          </a:p>
          <a:p>
            <a:r>
              <a:t>Ces trois flux convergent vers une source unique de vérité. Le référentiel n'est plus une photo figée : il devient un organisme qui se met à jour en permanence.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Prenons l'exemple le plus parlant : la formation, qui referme la boucle.</a:t>
            </a:r>
          </a:p>
          <a:p>
            <a:r>
              <a:t>Un employé suit un cours dans le LMS et réussit son examen. À ce moment, le LMS émet un événement « compétence acquise » vers le backend RH.</a:t>
            </a:r>
          </a:p>
          <a:p>
            <a:r>
              <a:t>Le système relève alors le niveau de la compétence correspondante dans le profil — avec une règle importante : le niveau ne fait que monter, jamais descendre. Une formation ne peut pas pénaliser quelqu'un.</a:t>
            </a:r>
          </a:p>
          <a:p>
            <a:r>
              <a:t>Et instantanément, le profil RH est à jour. Personne n'a ressaisi quoi que ce soit.</a:t>
            </a:r>
          </a:p>
          <a:p>
            <a:r>
              <a:t>C'est la démonstration concrète que le référentiel vit : un acte pédagogique se transforme automatiquement en donnée RH exploitable pour la mobilité ou le recrutement.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Comment le système décide-t-il qu'un candidat correspond ? Avec deux scores indépendants, et c'est la deuxième contribution du travail.</a:t>
            </a:r>
          </a:p>
          <a:p>
            <a:r>
              <a:t>Le premier, le Fit Score, mesure l'adéquation au besoin actuel : compétences, expérience, diplôme. Les compétences obligatoires pèsent davantage, et chaque compétence obligatoire manquante applique une pénalité.</a:t>
            </a:r>
          </a:p>
          <a:p>
            <a:r>
              <a:t>Le second, le Potential Score, est plus original : il mesure la capacité à évoluer. Il s'appuie sur l'adjacence des métiers dans la nomenclature ROME — deux métiers proches partagent des compétences — et ajoute un bonus pour les certifications.</a:t>
            </a:r>
          </a:p>
          <a:p>
            <a:r>
              <a:t>On obtient ainsi une lecture en deux dimensions : un candidat peut être « prêt maintenant » (STRONG_FIT), ou « à fort potentiel » même s'il n'est pas encore parfaitement aligné (POTENTIAL).</a:t>
            </a:r>
          </a:p>
          <a:p>
            <a:r>
              <a:t>Concrètement, cela permet de recruter pour le présent tout en anticipant l'avenir — exactement la logique d'une GPEC.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Quelques mots sur la réalisation, pour montrer que ce n'est pas une maquette mais un système fonctionnel.</a:t>
            </a:r>
          </a:p>
          <a:p>
            <a:r>
              <a:t>Le backend est développé en FastAPI sur PostgreSQL : il porte le modèle de données et toute la logique métier — matching, promotion, GPEC.</a:t>
            </a:r>
          </a:p>
          <a:p>
            <a:r>
              <a:t>Les deux interfaces sont en Next.js : l'application RH, avec ses tableaux de bord, son pipeline de recrutement en kanban et sa cartographie GPEC ; et le LMS, avec les cours, les quiz et le suivi de progression, adossé à MongoDB.</a:t>
            </a:r>
          </a:p>
          <a:p>
            <a:r>
              <a:t>Enfin, l'intégration : le SSO par JWT et la synchronisation des compétences font réellement communiquer les trois services. Tout fonctionne de bout en bout, ce que la démonstration va illustrer.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vous propose maintenant une démonstration qui suit un scénario unique, du recrutement à la mise à jour du profil.</a:t>
            </a:r>
          </a:p>
          <a:p>
            <a:r>
              <a:t>Première étape : j'ouvre une offre et le moteur affiche les candidats classés selon les deux axes, Fit et Potentiel, avec l'analyse des écarts de compétences.</a:t>
            </a:r>
          </a:p>
          <a:p>
            <a:r>
              <a:t>Deuxième étape : pour ce même besoin, le système propose aussi des employés en mobilité interne — des personnes déjà dans l'organisation, proches du poste.</a:t>
            </a:r>
          </a:p>
          <a:p>
            <a:r>
              <a:t>Troisième étape : pour combler un écart précis, j'assigne une formation ciblée depuis le LMS.</a:t>
            </a:r>
          </a:p>
          <a:p>
            <a:r>
              <a:t>Quatrième étape : une fois la formation validée, je reviens sur le profil RH — et le niveau de compétence a été relevé automatiquement. La boucle est complète.</a:t>
            </a:r>
          </a:p>
          <a:p>
            <a:r>
              <a:t>[Si la démo est en direct : basculer vers le navigateur ici. Sinon, dérouler les captures.]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Quels résultats ce travail démontre-t-il concrètement ?</a:t>
            </a:r>
          </a:p>
          <a:p>
            <a:r>
              <a:t>D'abord, et c'est l'essentiel, le référentiel se met à jour sans aucune ressaisie : l'objectif central est atteint.</a:t>
            </a:r>
          </a:p>
          <a:p>
            <a:r>
              <a:t>Ensuite, le double score Fit / Potentiel est pleinement opérationnel et change la façon de lire une candidature.</a:t>
            </a:r>
          </a:p>
          <a:p>
            <a:r>
              <a:t>La portabilité fonctionne : un candidat recruté devient employé en conservant son profil et ses compétences.</a:t>
            </a:r>
          </a:p>
          <a:p>
            <a:r>
              <a:t>Enfin, à l'échelle de l'organisation, le système produit une cartographie GPEC et une analyse des écarts de compétences, qui sont des outils directs de pilotage RH.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travail scientifique doit aussi reconnaître ses limites.</a:t>
            </a:r>
          </a:p>
          <a:p>
            <a:r>
              <a:t>La validation a été faite sur un jeu de données simulé et cohérent, mais pas encore sur des données de production de l'ONCF.</a:t>
            </a:r>
          </a:p>
          <a:p>
            <a:r>
              <a:t>Le Potential Score repose sur l'adjacence ROME, qui est une approximation utile mais imparfaite de la proximité réelle entre métiers.</a:t>
            </a:r>
          </a:p>
          <a:p>
            <a:r>
              <a:t>Le système n'est pas encore connecté à un SIRH réel — paie, gestion administrative.</a:t>
            </a:r>
          </a:p>
          <a:p>
            <a:r>
              <a:t>Enfin, la dimension d'ingénierie pédagogique — la qualité de l'évaluation des acquis dans le LMS — mérite d'être approfondie. Ce sont des limites assumées, qui ouvrent directement sur les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perspectives prolongent naturellement ces limites.</a:t>
            </a:r>
          </a:p>
          <a:p>
            <a:r>
              <a:t>D'abord, passer d'une GPEC descriptive à une GPEC prévisionnelle, qui projette les besoins futurs en compétences — une première brique existe déjà.</a:t>
            </a:r>
          </a:p>
          <a:p>
            <a:r>
              <a:t>Ensuite, utiliser l'intelligence artificielle pour recommander des parcours de formation individualisés à partir des écarts détectés.</a:t>
            </a:r>
          </a:p>
          <a:p>
            <a:r>
              <a:t>Puis, développer des connecteurs vers le SIRH existant de l'ONCF pour sortir du périmètre simulé.</a:t>
            </a:r>
          </a:p>
          <a:p>
            <a:r>
              <a:t>Et enfin, l'aboutissement logique : un déploiement pilote sur un périmètre réel de l'ONCF.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conclure : tout ce travail tient en une phrase — faire vivre le référentiel de compétences.</a:t>
            </a:r>
          </a:p>
          <a:p>
            <a:r>
              <a:t>RecruitPRO montre qu'en reliant recrutement, mobilité et formation autour d'une source unique de vérité, on passe d'une donnée figée à une compétence qui évolue avec la personne et avec l'organisation.</a:t>
            </a:r>
          </a:p>
          <a:p>
            <a:r>
              <a:t>C'est, je crois, la contribution principale de ce mémoire.</a:t>
            </a:r>
          </a:p>
          <a:p>
            <a:r>
              <a:t>Je vous remercie de votre attention et je suis maintenant à votre disposition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0" i="0">
                <a:solidFill>
                  <a:srgbClr val="0F2A4A"/>
                </a:solidFill>
                <a:latin typeface="Segoe UI Light"/>
              </a:rPr>
              <a:t>RecruitPRO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15468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1C5FA8"/>
                </a:solidFill>
                <a:latin typeface="Segoe UI Semibold"/>
              </a:rPr>
              <a:t>Vers un référentiel de compétences vivant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33271" y="3886200"/>
            <a:ext cx="4206241" cy="0"/>
          </a:xfrm>
          <a:prstGeom prst="line">
            <a:avLst/>
          </a:prstGeom>
          <a:ln w="12700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4128" y="4069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B6671"/>
                </a:solidFill>
                <a:latin typeface="Segoe UI"/>
              </a:rPr>
              <a:t>Plateforme RH intégrée  ·  ATS · GPEC · 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52120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Mémoire de Master — Génie Logiciel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Cadre : ONCF — Institut de Formation et de Développement des Compétences (IFDC)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080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A4A"/>
                </a:solidFill>
                <a:latin typeface="Segoe UI"/>
              </a:rPr>
              <a:t>Présenté par : Houssine Mir</a:t>
            </a:r>
            <a:r>
              <a:rPr sz="1250" b="0" i="0">
                <a:solidFill>
                  <a:srgbClr val="5B6671"/>
                </a:solidFill>
                <a:latin typeface="Segoe UI"/>
              </a:rPr>
              <a:t>     ·     Sous la direction de : Pr. [à compléter]     ·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01 · CADRE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Contexte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02996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90195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L'ONCF investit fortement dans la 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89864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77063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Les métiers et les compétences évoluent en continu.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6732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63931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Recrutement, mobilité et formation restent séparés.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3600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507992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La donnée « compétence » demeure cloisonnée.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Contexte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02 · 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0F2A4A"/>
                </a:solidFill>
                <a:latin typeface="Segoe UI Light"/>
              </a:rPr>
              <a:t>Le référentiel de compétences est figé.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58183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3630168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0F2A4A"/>
                </a:solidFill>
                <a:latin typeface="Segoe UI"/>
              </a:rPr>
              <a:t>Saisi une fois, rarement mis à jour.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325112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4197096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0F2A4A"/>
                </a:solidFill>
                <a:latin typeface="Segoe UI"/>
              </a:rPr>
              <a:t>Déconnecté de ce qui se passe sur le terrain.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892040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4764024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0F2A4A"/>
                </a:solidFill>
                <a:latin typeface="Segoe UI"/>
              </a:rPr>
              <a:t>Il se périme plus vite qu'on ne l'entretient.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B6671"/>
                </a:solidFill>
                <a:latin typeface="Segoe UI"/>
              </a:rPr>
              <a:t>Question de recherche : </a:t>
            </a:r>
            <a:r>
              <a:rPr sz="1800" b="1" i="0">
                <a:solidFill>
                  <a:srgbClr val="1C5FA8"/>
                </a:solidFill>
                <a:latin typeface="Segoe UI"/>
              </a:rPr>
              <a:t>comment faire vivre ce référentiel 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Problématique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03 ·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984248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85623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0F2A4A"/>
                </a:solidFill>
                <a:latin typeface="Segoe UI"/>
              </a:rPr>
              <a:t>Unifier ATS, RH/GPEC et LMS.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203703"/>
            <a:ext cx="10131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Une seule identité, une seule vérité.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16936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788920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0F2A4A"/>
                </a:solidFill>
                <a:latin typeface="Segoe UI"/>
              </a:rPr>
              <a:t>Mettre à jour le référentiel automatiquement.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36391"/>
            <a:ext cx="10131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À partir d'événements réels.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849624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721608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0F2A4A"/>
                </a:solidFill>
                <a:latin typeface="Segoe UI"/>
              </a:rPr>
              <a:t>Évaluer l'adéquation et le potentiel.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069080"/>
            <a:ext cx="10131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Recruter le présent, anticiper l'avenir.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782312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654296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0F2A4A"/>
                </a:solidFill>
                <a:latin typeface="Segoe UI"/>
              </a:rPr>
              <a:t>Assurer la portabilité candidat → employé.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5001768"/>
            <a:ext cx="10131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Le profil suit la personne.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Objectifs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04 · L'EXISTANT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État de l'art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75103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31135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0F2A4A"/>
                </a:solidFill>
                <a:latin typeface="Segoe UI Semibold"/>
              </a:rPr>
              <a:t>ATS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5568" y="2889503"/>
            <a:ext cx="457200" cy="0"/>
          </a:xfrm>
          <a:prstGeom prst="line">
            <a:avLst/>
          </a:prstGeom>
          <a:ln w="25400">
            <a:solidFill>
              <a:srgbClr val="1C5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3026663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B6671"/>
                </a:solidFill>
                <a:latin typeface="Segoe UI"/>
              </a:rPr>
              <a:t>Recrute, puis oublie le profil.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75103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31135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0F2A4A"/>
                </a:solidFill>
                <a:latin typeface="Segoe UI Semibold"/>
              </a:rPr>
              <a:t>LMS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27448" y="2889503"/>
            <a:ext cx="457200" cy="0"/>
          </a:xfrm>
          <a:prstGeom prst="line">
            <a:avLst/>
          </a:prstGeom>
          <a:ln w="25400">
            <a:solidFill>
              <a:srgbClr val="1C5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09160" y="3026663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B6671"/>
                </a:solidFill>
                <a:latin typeface="Segoe UI"/>
              </a:rPr>
              <a:t>Forme, sans relier au poste.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75103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31135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0F2A4A"/>
                </a:solidFill>
                <a:latin typeface="Segoe UI Semibold"/>
              </a:rPr>
              <a:t>SIRH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39327" y="2889503"/>
            <a:ext cx="457201" cy="0"/>
          </a:xfrm>
          <a:prstGeom prst="line">
            <a:avLst/>
          </a:prstGeom>
          <a:ln w="25400">
            <a:solidFill>
              <a:srgbClr val="1C5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0" y="3026663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B6671"/>
                </a:solidFill>
                <a:latin typeface="Segoe UI"/>
              </a:rPr>
              <a:t>Stocke, ne fait pas évoluer.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6110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5B6671"/>
                </a:solidFill>
                <a:latin typeface="Segoe UI"/>
              </a:rPr>
              <a:t>Le constat : </a:t>
            </a:r>
            <a:r>
              <a:rPr sz="2000" b="1" i="0">
                <a:solidFill>
                  <a:srgbClr val="1C5FA8"/>
                </a:solidFill>
                <a:latin typeface="Segoe UI"/>
              </a:rPr>
              <a:t>aucun ne fait vivre le référentiel.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État de l'art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05 · VUE SYSTÈME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Architecture générale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63040" y="1783080"/>
            <a:ext cx="9235440" cy="64008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SSO — un jeton JWT partagé par les trois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880360"/>
            <a:ext cx="2743200" cy="1234440"/>
          </a:xfrm>
          <a:prstGeom prst="roundRect">
            <a:avLst>
              <a:gd name="adj" fmla="val 7000"/>
            </a:avLst>
          </a:prstGeom>
          <a:solidFill>
            <a:srgbClr val="E9F1FA"/>
          </a:solidFill>
          <a:ln w="15875">
            <a:solidFill>
              <a:srgbClr val="1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900" b="0" i="0">
                <a:solidFill>
                  <a:srgbClr val="0F2A4A"/>
                </a:solidFill>
                <a:latin typeface="Segoe UI Semibold"/>
              </a:rPr>
              <a:t>ATS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5B6671"/>
                </a:solidFill>
                <a:latin typeface="Segoe UI"/>
              </a:rPr>
              <a:t>Recrutement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2423160"/>
            <a:ext cx="0" cy="457200"/>
          </a:xfrm>
          <a:prstGeom prst="line">
            <a:avLst/>
          </a:prstGeom>
          <a:ln w="19050">
            <a:solidFill>
              <a:srgbClr val="1C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09160" y="2880360"/>
            <a:ext cx="2743200" cy="1234440"/>
          </a:xfrm>
          <a:prstGeom prst="roundRect">
            <a:avLst>
              <a:gd name="adj" fmla="val 7000"/>
            </a:avLst>
          </a:prstGeom>
          <a:solidFill>
            <a:srgbClr val="E9F1FA"/>
          </a:solidFill>
          <a:ln w="15875">
            <a:solidFill>
              <a:srgbClr val="1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900" b="0" i="0">
                <a:solidFill>
                  <a:srgbClr val="0F2A4A"/>
                </a:solidFill>
                <a:latin typeface="Segoe UI Semibold"/>
              </a:rPr>
              <a:t>RH · GPEC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5B6671"/>
                </a:solidFill>
                <a:latin typeface="Segoe UI"/>
              </a:rPr>
              <a:t>Mobilité interne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423160"/>
            <a:ext cx="0" cy="457200"/>
          </a:xfrm>
          <a:prstGeom prst="line">
            <a:avLst/>
          </a:prstGeom>
          <a:ln w="19050">
            <a:solidFill>
              <a:srgbClr val="1C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55279" y="2880360"/>
            <a:ext cx="2743200" cy="1234440"/>
          </a:xfrm>
          <a:prstGeom prst="roundRect">
            <a:avLst>
              <a:gd name="adj" fmla="val 7000"/>
            </a:avLst>
          </a:prstGeom>
          <a:solidFill>
            <a:srgbClr val="E9F1FA"/>
          </a:solidFill>
          <a:ln w="15875">
            <a:solidFill>
              <a:srgbClr val="1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900" b="0" i="0">
                <a:solidFill>
                  <a:srgbClr val="0F2A4A"/>
                </a:solidFill>
                <a:latin typeface="Segoe UI Semibold"/>
              </a:rPr>
              <a:t>LMS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5B6671"/>
                </a:solidFill>
                <a:latin typeface="Segoe UI"/>
              </a:rPr>
              <a:t>Formation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0" y="2423160"/>
            <a:ext cx="0" cy="457200"/>
          </a:xfrm>
          <a:prstGeom prst="line">
            <a:avLst/>
          </a:prstGeom>
          <a:ln w="19050">
            <a:solidFill>
              <a:srgbClr val="1C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n 11"/>
          <p:cNvSpPr/>
          <p:nvPr/>
        </p:nvSpPr>
        <p:spPr>
          <a:xfrm>
            <a:off x="1828800" y="4709160"/>
            <a:ext cx="2011680" cy="1005840"/>
          </a:xfrm>
          <a:prstGeom prst="can">
            <a:avLst/>
          </a:prstGeom>
          <a:solidFill>
            <a:srgbClr val="F5F7F9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PostgreSQL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B6671"/>
                </a:solidFill>
                <a:latin typeface="Segoe UI"/>
              </a:rPr>
              <a:t>RH · ATS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4114800"/>
            <a:ext cx="0" cy="594360"/>
          </a:xfrm>
          <a:prstGeom prst="line">
            <a:avLst/>
          </a:prstGeom>
          <a:ln w="15875">
            <a:solidFill>
              <a:srgbClr val="8A93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n 13"/>
          <p:cNvSpPr/>
          <p:nvPr/>
        </p:nvSpPr>
        <p:spPr>
          <a:xfrm>
            <a:off x="8321040" y="4709160"/>
            <a:ext cx="2011680" cy="1005840"/>
          </a:xfrm>
          <a:prstGeom prst="can">
            <a:avLst/>
          </a:prstGeom>
          <a:solidFill>
            <a:srgbClr val="F5F7F9"/>
          </a:solidFill>
          <a:ln w="12700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 i="0">
                <a:solidFill>
                  <a:srgbClr val="0F2A4A"/>
                </a:solidFill>
                <a:latin typeface="Segoe UI"/>
              </a:rPr>
              <a:t>MongoDB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B6671"/>
                </a:solidFill>
                <a:latin typeface="Segoe UI"/>
              </a:rPr>
              <a:t>Contenus LMS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6880" y="4114800"/>
            <a:ext cx="0" cy="594360"/>
          </a:xfrm>
          <a:prstGeom prst="line">
            <a:avLst/>
          </a:prstGeom>
          <a:ln w="15875">
            <a:solidFill>
              <a:srgbClr val="8A93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06 · APPORT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Le référentiel vivant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7047" y="3337559"/>
            <a:ext cx="3657600" cy="1280160"/>
          </a:xfrm>
          <a:prstGeom prst="roundRect">
            <a:avLst>
              <a:gd name="adj" fmla="val 12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Référentiel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E9F1FA"/>
                </a:solidFill>
                <a:latin typeface="Segoe UI"/>
              </a:rPr>
              <a:t>de compétences vivant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965960"/>
            <a:ext cx="2560320" cy="868680"/>
          </a:xfrm>
          <a:prstGeom prst="roundRect">
            <a:avLst>
              <a:gd name="adj" fmla="val 10000"/>
            </a:avLst>
          </a:prstGeom>
          <a:solidFill>
            <a:srgbClr val="E9F1FA"/>
          </a:solidFill>
          <a:ln w="15875">
            <a:solidFill>
              <a:srgbClr val="1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0F2A4A"/>
                </a:solidFill>
                <a:latin typeface="Segoe UI Semibold"/>
              </a:rPr>
              <a:t>Recrutement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2834639"/>
            <a:ext cx="2149324" cy="502920"/>
          </a:xfrm>
          <a:prstGeom prst="line">
            <a:avLst/>
          </a:prstGeom>
          <a:ln w="22225">
            <a:solidFill>
              <a:srgbClr val="1C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15687" y="1965960"/>
            <a:ext cx="2560320" cy="868680"/>
          </a:xfrm>
          <a:prstGeom prst="roundRect">
            <a:avLst>
              <a:gd name="adj" fmla="val 10000"/>
            </a:avLst>
          </a:prstGeom>
          <a:solidFill>
            <a:srgbClr val="E9F1FA"/>
          </a:solidFill>
          <a:ln w="15875">
            <a:solidFill>
              <a:srgbClr val="1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0F2A4A"/>
                </a:solidFill>
                <a:latin typeface="Segoe UI Semibold"/>
              </a:rPr>
              <a:t>Mobilité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2834639"/>
            <a:ext cx="0" cy="502920"/>
          </a:xfrm>
          <a:prstGeom prst="line">
            <a:avLst/>
          </a:prstGeom>
          <a:ln w="22225">
            <a:solidFill>
              <a:srgbClr val="1C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36815" y="1965960"/>
            <a:ext cx="2560320" cy="868680"/>
          </a:xfrm>
          <a:prstGeom prst="roundRect">
            <a:avLst>
              <a:gd name="adj" fmla="val 10000"/>
            </a:avLst>
          </a:prstGeom>
          <a:solidFill>
            <a:srgbClr val="E9F1FA"/>
          </a:solidFill>
          <a:ln w="15875">
            <a:solidFill>
              <a:srgbClr val="1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0F2A4A"/>
                </a:solidFill>
                <a:latin typeface="Segoe UI Semibold"/>
              </a:rPr>
              <a:t>Formation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567650" y="2834639"/>
            <a:ext cx="2149325" cy="502920"/>
          </a:xfrm>
          <a:prstGeom prst="line">
            <a:avLst/>
          </a:prstGeom>
          <a:ln w="22225">
            <a:solidFill>
              <a:srgbClr val="1C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671"/>
                </a:solidFill>
                <a:latin typeface="Segoe UI"/>
              </a:rPr>
              <a:t>Trois événements alimentent </a:t>
            </a:r>
            <a:r>
              <a:rPr sz="1900" b="1" i="0">
                <a:solidFill>
                  <a:srgbClr val="1C5FA8"/>
                </a:solidFill>
                <a:latin typeface="Segoe UI"/>
              </a:rPr>
              <a:t>une seule vérité.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Référentiel vivant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06 · PREUVE DU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La boucle se referme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FFFFFF"/>
                </a:solidFill>
                <a:latin typeface="Segoe UI Semibold"/>
              </a:rPr>
              <a:t>Cours validé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E9F1FA"/>
                </a:solidFill>
                <a:latin typeface="Segoe UI"/>
              </a:rPr>
              <a:t>dans le LMS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79" y="3520440"/>
            <a:ext cx="406299" cy="0"/>
          </a:xfrm>
          <a:prstGeom prst="line">
            <a:avLst/>
          </a:prstGeom>
          <a:ln w="25400">
            <a:solidFill>
              <a:srgbClr val="1C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0978" y="28346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 w="15875">
            <a:solidFill>
              <a:srgbClr val="1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0F2A4A"/>
                </a:solidFill>
                <a:latin typeface="Segoe UI Semibold"/>
              </a:rPr>
              <a:t>Événement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5B6671"/>
                </a:solidFill>
                <a:latin typeface="Segoe UI"/>
              </a:rPr>
              <a:t>compétence émis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92698" y="3520440"/>
            <a:ext cx="406298" cy="0"/>
          </a:xfrm>
          <a:prstGeom prst="line">
            <a:avLst/>
          </a:prstGeom>
          <a:ln w="25400">
            <a:solidFill>
              <a:srgbClr val="1C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98996" y="28346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 w="15875">
            <a:solidFill>
              <a:srgbClr val="1C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0F2A4A"/>
                </a:solidFill>
                <a:latin typeface="Segoe UI Semibold"/>
              </a:rPr>
              <a:t>Niveau + 1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5B6671"/>
                </a:solidFill>
                <a:latin typeface="Segoe UI"/>
              </a:rPr>
              <a:t>jamais abaissé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30716" y="3520440"/>
            <a:ext cx="406299" cy="0"/>
          </a:xfrm>
          <a:prstGeom prst="line">
            <a:avLst/>
          </a:prstGeom>
          <a:ln w="25400">
            <a:solidFill>
              <a:srgbClr val="1C5F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37015" y="28346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700" b="0" i="0">
                <a:solidFill>
                  <a:srgbClr val="FFFFFF"/>
                </a:solidFill>
                <a:latin typeface="Segoe UI Semibold"/>
              </a:rPr>
              <a:t>Profil RH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E9F1FA"/>
                </a:solidFill>
                <a:latin typeface="Segoe UI"/>
              </a:rPr>
              <a:t>mis à jour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0F2A4A"/>
                </a:solidFill>
                <a:latin typeface="Segoe UI"/>
              </a:rPr>
              <a:t>Une compétence validée met à jour le profil — sans ressaisie.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Règle : le niveau ne fait que monter (course-completed).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Boucle vivante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07 · L'INTELLIGENCE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Moteur de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297680" y="5669280"/>
            <a:ext cx="6035040" cy="0"/>
          </a:xfrm>
          <a:prstGeom prst="line">
            <a:avLst/>
          </a:prstGeom>
          <a:ln w="19050">
            <a:solidFill>
              <a:srgbClr val="0F2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297680" y="2286000"/>
            <a:ext cx="0" cy="3383280"/>
          </a:xfrm>
          <a:prstGeom prst="line">
            <a:avLst/>
          </a:prstGeom>
          <a:ln w="19050">
            <a:solidFill>
              <a:srgbClr val="0F2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55280" y="577900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671"/>
                </a:solidFill>
                <a:latin typeface="Segoe UI"/>
              </a:rPr>
              <a:t>Fit Score  →  besoin actuel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671"/>
                </a:solidFill>
                <a:latin typeface="Segoe UI"/>
              </a:rPr>
              <a:t>Potential Score  →  capacité d'évolution</a:t>
            </a:r>
          </a:p>
        </p:txBody>
      </p:sp>
      <p:sp>
        <p:nvSpPr>
          <p:cNvPr id="9" name="Oval 8"/>
          <p:cNvSpPr/>
          <p:nvPr/>
        </p:nvSpPr>
        <p:spPr>
          <a:xfrm>
            <a:off x="8659368" y="2715768"/>
            <a:ext cx="237744" cy="237744"/>
          </a:xfrm>
          <a:prstGeom prst="ellipse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263347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A"/>
                </a:solidFill>
                <a:latin typeface="Segoe UI"/>
              </a:rPr>
              <a:t>STRONG_FIT</a:t>
            </a:r>
          </a:p>
        </p:txBody>
      </p:sp>
      <p:sp>
        <p:nvSpPr>
          <p:cNvPr id="11" name="Oval 10"/>
          <p:cNvSpPr/>
          <p:nvPr/>
        </p:nvSpPr>
        <p:spPr>
          <a:xfrm>
            <a:off x="5093208" y="3081528"/>
            <a:ext cx="237744" cy="237744"/>
          </a:xfrm>
          <a:prstGeom prst="ellipse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3248" y="299923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A"/>
                </a:solidFill>
                <a:latin typeface="Segoe UI"/>
              </a:rPr>
              <a:t>POTENTIAL</a:t>
            </a:r>
          </a:p>
        </p:txBody>
      </p:sp>
      <p:sp>
        <p:nvSpPr>
          <p:cNvPr id="13" name="Oval 12"/>
          <p:cNvSpPr/>
          <p:nvPr/>
        </p:nvSpPr>
        <p:spPr>
          <a:xfrm>
            <a:off x="5001768" y="4818888"/>
            <a:ext cx="237744" cy="237744"/>
          </a:xfrm>
          <a:prstGeom prst="ellipse">
            <a:avLst/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473659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A"/>
                </a:solidFill>
                <a:latin typeface="Segoe UI"/>
              </a:rPr>
              <a:t>WEAK_FIT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874519"/>
            <a:ext cx="3017520" cy="237744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0F2A4A"/>
                </a:solidFill>
                <a:latin typeface="Segoe UI Semibold"/>
              </a:rPr>
              <a:t>Fit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5B6671"/>
                </a:solidFill>
                <a:latin typeface="Segoe UI"/>
              </a:rPr>
              <a:t>compétences · expérience · diplôme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600" b="0" i="0">
                <a:solidFill>
                  <a:srgbClr val="0F2A4A"/>
                </a:solidFill>
                <a:latin typeface="Segoe UI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0F2A4A"/>
                </a:solidFill>
                <a:latin typeface="Segoe UI Semibold"/>
              </a:rPr>
              <a:t>Potentiel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5B6671"/>
                </a:solidFill>
                <a:latin typeface="Segoe UI"/>
              </a:rPr>
              <a:t>adjacence ROME des métiers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 i="0">
                <a:solidFill>
                  <a:srgbClr val="5B6671"/>
                </a:solidFill>
                <a:latin typeface="Segoe UI"/>
              </a:rPr>
              <a:t>+ bonus certification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C5FA8"/>
                </a:solidFill>
                <a:latin typeface="Segoe UI"/>
              </a:rPr>
              <a:t>Recruter le présent, anticiper l'avenir.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08 · MISE EN ŒUVRE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Réalisation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984248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85623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0" i="0">
                <a:solidFill>
                  <a:srgbClr val="0F2A4A"/>
                </a:solidFill>
                <a:latin typeface="Segoe UI"/>
              </a:rPr>
              <a:t>Backend — FastAPI ·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203703"/>
            <a:ext cx="10131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API REST, modèle de données RH/ATS.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98648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770632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0" i="0">
                <a:solidFill>
                  <a:srgbClr val="0F2A4A"/>
                </a:solidFill>
                <a:latin typeface="Segoe UI"/>
              </a:rPr>
              <a:t>RH — Next.js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18103"/>
            <a:ext cx="10131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Tableaux de bord, kanban, GPEC.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81304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68503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0" i="0">
                <a:solidFill>
                  <a:srgbClr val="0F2A4A"/>
                </a:solidFill>
                <a:latin typeface="Segoe UI"/>
              </a:rPr>
              <a:t>LMS — Next.js ·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032503"/>
            <a:ext cx="10131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Cours, quiz, suivi de progression.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72744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59943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0" i="0">
                <a:solidFill>
                  <a:srgbClr val="0F2A4A"/>
                </a:solidFill>
                <a:latin typeface="Segoe UI"/>
              </a:rPr>
              <a:t>Intégration — SSO JWT + synchronisation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946903"/>
            <a:ext cx="10131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Les trois services communiquent.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Réalisation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09 · EN CONDITIONS RÉELLES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Démonstration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83663"/>
            <a:ext cx="502920" cy="50292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28799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F2A4A"/>
                </a:solidFill>
                <a:latin typeface="Segoe UI"/>
              </a:rPr>
              <a:t>Matching d'une offre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94559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Fit &amp; Potentiel, analyse des écarts.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98063"/>
            <a:ext cx="502920" cy="50292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743199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F2A4A"/>
                </a:solidFill>
                <a:latin typeface="Segoe UI"/>
              </a:rPr>
              <a:t>Mobilité interne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108959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Employés proches du besoin.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12463"/>
            <a:ext cx="502920" cy="50292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657599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F2A4A"/>
                </a:solidFill>
                <a:latin typeface="Segoe UI"/>
              </a:rPr>
              <a:t>Assignation d'une 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23359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Combler un écart ciblé.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626864"/>
            <a:ext cx="502920" cy="50292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7200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F2A4A"/>
                </a:solidFill>
                <a:latin typeface="Segoe UI"/>
              </a:rPr>
              <a:t>Profil RH mis à jour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937759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671"/>
                </a:solidFill>
                <a:latin typeface="Segoe UI"/>
              </a:rPr>
              <a:t>La boucle se referme.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86983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8A939E"/>
                </a:solidFill>
                <a:latin typeface="Segoe UI"/>
              </a:rPr>
              <a:t>Astuce : insérer ici des captures réelles, ou faire la démonstration en direct.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Démonstration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10 · CE QUI EST DÉMONTRÉ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02996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90195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Référentiel mis à jour sans ressaisie.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89864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77063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Double score Fit / Potentiel opérationnel.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6732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63931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Portabilité candidat → employé effective.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3600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507992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Cartographie GPEC et analyse des écarts.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Résultats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11 · REGARD CRITIQUE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Limites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02996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90195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Validation sur données simulées.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89864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77063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L'adjacence ROME reste une approximation.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6732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63931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Pas encore d'intégration SIRH réelle.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3600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507992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L'évaluation pédagogique mérite d'être approfondie.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Limites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C5FA8"/>
                </a:solidFill>
                <a:latin typeface="Segoe UI"/>
              </a:rPr>
              <a:t>12 · SUITES POSSIBLES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F2A4A"/>
                </a:solidFill>
                <a:latin typeface="Segoe UI Semibold"/>
              </a:rPr>
              <a:t>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99616"/>
            <a:ext cx="566928" cy="4114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02996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90195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GPEC prévisionnelle (projection des besoins).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89864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77063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Recommandation de parcours par 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6732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639311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Connecteurs vers le SIRH existant.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36007"/>
            <a:ext cx="109728" cy="109728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507992"/>
            <a:ext cx="10131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0F2A4A"/>
                </a:solidFill>
                <a:latin typeface="Segoe UI"/>
              </a:rPr>
              <a:t>Déploiement pilote à l'ONCF.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6400800"/>
            <a:ext cx="10545775" cy="0"/>
          </a:xfrm>
          <a:prstGeom prst="line">
            <a:avLst/>
          </a:prstGeom>
          <a:ln w="9525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RecruitPRO — Perspectives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9E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0F2A4A"/>
                </a:solidFill>
                <a:latin typeface="Segoe UI Light"/>
              </a:rPr>
              <a:t>Faire vivre le référentiel
de compétences.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33271" y="4114800"/>
            <a:ext cx="4206241" cy="0"/>
          </a:xfrm>
          <a:prstGeom prst="line">
            <a:avLst/>
          </a:prstGeom>
          <a:ln w="12700">
            <a:solidFill>
              <a:srgbClr val="D9DE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4297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C5FA8"/>
                </a:solidFill>
                <a:latin typeface="Segoe UI Semibold"/>
              </a:rPr>
              <a:t>De la donnée figée à la compétence qui évolue.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5669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2A4A"/>
                </a:solidFill>
                <a:latin typeface="Segoe UI"/>
              </a:rPr>
              <a:t>Merci de votre attention.</a:t>
            </a:r>
            <a:r>
              <a:rPr sz="1800" b="0" i="0">
                <a:solidFill>
                  <a:srgbClr val="5B6671"/>
                </a:solidFill>
                <a:latin typeface="Segoe UI"/>
              </a:rPr>
              <a:t>     Vos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