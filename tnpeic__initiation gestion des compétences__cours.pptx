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4" r:id="rId5"/>
    <p:sldId id="266" r:id="rId6"/>
    <p:sldId id="273" r:id="rId7"/>
    <p:sldId id="271" r:id="rId8"/>
    <p:sldId id="279" r:id="rId9"/>
    <p:sldId id="280" r:id="rId10"/>
    <p:sldId id="281" r:id="rId11"/>
    <p:sldId id="282" r:id="rId12"/>
    <p:sldId id="267" r:id="rId13"/>
    <p:sldId id="275" r:id="rId14"/>
    <p:sldId id="276" r:id="rId15"/>
    <p:sldId id="277" r:id="rId16"/>
    <p:sldId id="283" r:id="rId17"/>
    <p:sldId id="284" r:id="rId18"/>
    <p:sldId id="285" r:id="rId19"/>
    <p:sldId id="257" r:id="rId20"/>
    <p:sldId id="261" r:id="rId21"/>
    <p:sldId id="258" r:id="rId22"/>
    <p:sldId id="259" r:id="rId23"/>
    <p:sldId id="260" r:id="rId24"/>
    <p:sldId id="262" r:id="rId25"/>
    <p:sldId id="263" r:id="rId26"/>
    <p:sldId id="264" r:id="rId27"/>
    <p:sldId id="286" r:id="rId28"/>
    <p:sldId id="287" r:id="rId29"/>
    <p:sldId id="288" r:id="rId30"/>
    <p:sldId id="291" r:id="rId31"/>
    <p:sldId id="290" r:id="rId32"/>
    <p:sldId id="293" r:id="rId33"/>
    <p:sldId id="294" r:id="rId34"/>
    <p:sldId id="295" r:id="rId35"/>
    <p:sldId id="297" r:id="rId36"/>
    <p:sldId id="298" r:id="rId37"/>
    <p:sldId id="299" r:id="rId38"/>
    <p:sldId id="300" r:id="rId39"/>
    <p:sldId id="302" r:id="rId40"/>
    <p:sldId id="303" r:id="rId41"/>
    <p:sldId id="301" r:id="rId42"/>
    <p:sldId id="313" r:id="rId43"/>
    <p:sldId id="314" r:id="rId44"/>
    <p:sldId id="315" r:id="rId45"/>
    <p:sldId id="316" r:id="rId46"/>
    <p:sldId id="317" r:id="rId47"/>
    <p:sldId id="318" r:id="rId4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5" d="100"/>
          <a:sy n="125" d="100"/>
        </p:scale>
        <p:origin x="-48" y="19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F772417-2FA5-4214-928F-3284BE910D23}" type="datetimeFigureOut">
              <a:rPr lang="fr-FR" smtClean="0"/>
              <a:pPr/>
              <a:t>19/12/2024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821F445-E3CA-4707-B063-958EA436036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772417-2FA5-4214-928F-3284BE910D23}" type="datetimeFigureOut">
              <a:rPr lang="fr-FR" smtClean="0"/>
              <a:pPr/>
              <a:t>19/12/2024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1F445-E3CA-4707-B063-958EA436036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556793"/>
            <a:ext cx="7772400" cy="2043658"/>
          </a:xfrm>
        </p:spPr>
        <p:style>
          <a:lnRef idx="2">
            <a:schemeClr val="accent2"/>
          </a:lnRef>
          <a:fillRef idx="1">
            <a:schemeClr val="lt1"/>
          </a:fillRef>
          <a:effectRef idx="0">
            <a:schemeClr val="accent2"/>
          </a:effectRef>
          <a:fontRef idx="minor">
            <a:schemeClr val="dk1"/>
          </a:fontRef>
        </p:style>
        <p:txBody>
          <a:bodyPr>
            <a:normAutofit/>
          </a:bodyPr>
          <a:lstStyle/>
          <a:p>
            <a:r>
              <a:rPr lang="fr-FR" dirty="0" smtClean="0"/>
              <a:t>Ingénierie des compétences </a:t>
            </a:r>
            <a:br>
              <a:rPr lang="fr-FR" dirty="0" smtClean="0"/>
            </a:br>
            <a:endParaRPr lang="fr-FR" dirty="0"/>
          </a:p>
        </p:txBody>
      </p:sp>
      <p:sp>
        <p:nvSpPr>
          <p:cNvPr id="3" name="Sous-titre 2"/>
          <p:cNvSpPr>
            <a:spLocks noGrp="1"/>
          </p:cNvSpPr>
          <p:nvPr>
            <p:ph type="subTitle" idx="1"/>
          </p:nvPr>
        </p:nvSpPr>
        <p:spPr>
          <a:xfrm>
            <a:off x="1371600" y="3886200"/>
            <a:ext cx="6400800" cy="766936"/>
          </a:xfrm>
        </p:spPr>
        <p:txBody>
          <a:bodyPr/>
          <a:lstStyle/>
          <a:p>
            <a:r>
              <a:rPr lang="fr-FR" dirty="0" smtClean="0"/>
              <a:t>MASTER TNPEIC 2024-2026</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re 1"/>
          <p:cNvSpPr>
            <a:spLocks noGrp="1"/>
          </p:cNvSpPr>
          <p:nvPr>
            <p:ph type="title" idx="4294967295"/>
          </p:nvPr>
        </p:nvSpPr>
        <p:spPr>
          <a:xfrm>
            <a:off x="539552" y="260648"/>
            <a:ext cx="8229600" cy="1143000"/>
          </a:xfrm>
          <a:prstGeom prst="wave">
            <a:avLst>
              <a:gd name="adj1" fmla="val 13005"/>
              <a:gd name="adj2" fmla="val 0"/>
            </a:avLst>
          </a:prstGeom>
          <a:solidFill>
            <a:schemeClr val="bg2"/>
          </a:solidFill>
          <a:ln>
            <a:solidFill>
              <a:srgbClr val="FF99CC"/>
            </a:solidFill>
            <a:round/>
            <a:headEnd type="none" w="med" len="med"/>
            <a:tailEnd type="none" w="med" len="med"/>
          </a:ln>
        </p:spPr>
        <p:txBody>
          <a:bodyPr lIns="91440" rIns="91440" bIns="45720">
            <a:normAutofit fontScale="90000"/>
          </a:bodyPr>
          <a:lstStyle/>
          <a:p>
            <a:pPr fontAlgn="auto">
              <a:spcAft>
                <a:spcPts val="0"/>
              </a:spcAft>
              <a:defRPr/>
            </a:pPr>
            <a:r>
              <a:rPr lang="fr-FR" sz="4000" b="1">
                <a:solidFill>
                  <a:schemeClr val="tx2"/>
                </a:solidFill>
              </a:rPr>
              <a:t>la notion de compétence</a:t>
            </a:r>
          </a:p>
        </p:txBody>
      </p:sp>
      <p:sp>
        <p:nvSpPr>
          <p:cNvPr id="71683" name="Espace réservé du contenu 2"/>
          <p:cNvSpPr>
            <a:spLocks noGrp="1"/>
          </p:cNvSpPr>
          <p:nvPr>
            <p:ph idx="4294967295"/>
          </p:nvPr>
        </p:nvSpPr>
        <p:spPr>
          <a:xfrm>
            <a:off x="467544" y="2420888"/>
            <a:ext cx="8391525" cy="2664767"/>
          </a:xfrm>
          <a:prstGeom prst="verticalScroll">
            <a:avLst>
              <a:gd name="adj" fmla="val 12500"/>
            </a:avLst>
          </a:prstGeom>
          <a:solidFill>
            <a:schemeClr val="bg2"/>
          </a:solidFill>
          <a:ln>
            <a:solidFill>
              <a:schemeClr val="hlink"/>
            </a:solidFill>
            <a:round/>
            <a:headEnd type="none" w="med" len="med"/>
            <a:tailEnd type="none" w="med" len="med"/>
          </a:ln>
        </p:spPr>
        <p:txBody>
          <a:bodyPr>
            <a:normAutofit/>
          </a:bodyPr>
          <a:lstStyle/>
          <a:p>
            <a:pPr>
              <a:buNone/>
            </a:pPr>
            <a:r>
              <a:rPr lang="fr-FR" b="1" i="1" u="sng" dirty="0" smtClean="0"/>
              <a:t>Combinaison et maîtrise d’un ensemble de savoirs dans un domaine donnée</a:t>
            </a:r>
            <a:endParaRPr lang="fr-FR" b="1" u="sng"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fade">
                                      <p:cBhvr>
                                        <p:cTn id="7" dur="1000"/>
                                        <p:tgtEl>
                                          <p:spTgt spid="71682"/>
                                        </p:tgtEl>
                                      </p:cBhvr>
                                    </p:animEffect>
                                    <p:anim calcmode="lin" valueType="num">
                                      <p:cBhvr>
                                        <p:cTn id="8" dur="1000" fill="hold"/>
                                        <p:tgtEl>
                                          <p:spTgt spid="71682"/>
                                        </p:tgtEl>
                                        <p:attrNameLst>
                                          <p:attrName>ppt_x</p:attrName>
                                        </p:attrNameLst>
                                      </p:cBhvr>
                                      <p:tavLst>
                                        <p:tav tm="0">
                                          <p:val>
                                            <p:strVal val="#ppt_x"/>
                                          </p:val>
                                        </p:tav>
                                        <p:tav tm="100000">
                                          <p:val>
                                            <p:strVal val="#ppt_x"/>
                                          </p:val>
                                        </p:tav>
                                      </p:tavLst>
                                    </p:anim>
                                    <p:anim calcmode="lin" valueType="num">
                                      <p:cBhvr>
                                        <p:cTn id="9" dur="900" decel="100000" fill="hold"/>
                                        <p:tgtEl>
                                          <p:spTgt spid="7168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1682"/>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71683"/>
                                        </p:tgtEl>
                                        <p:attrNameLst>
                                          <p:attrName>style.visibility</p:attrName>
                                        </p:attrNameLst>
                                      </p:cBhvr>
                                      <p:to>
                                        <p:strVal val="visible"/>
                                      </p:to>
                                    </p:set>
                                    <p:animEffect transition="in" filter="fade">
                                      <p:cBhvr>
                                        <p:cTn id="15" dur="1000"/>
                                        <p:tgtEl>
                                          <p:spTgt spid="71683"/>
                                        </p:tgtEl>
                                      </p:cBhvr>
                                    </p:animEffect>
                                    <p:anim calcmode="lin" valueType="num">
                                      <p:cBhvr>
                                        <p:cTn id="16" dur="1000" fill="hold"/>
                                        <p:tgtEl>
                                          <p:spTgt spid="71683"/>
                                        </p:tgtEl>
                                        <p:attrNameLst>
                                          <p:attrName>ppt_x</p:attrName>
                                        </p:attrNameLst>
                                      </p:cBhvr>
                                      <p:tavLst>
                                        <p:tav tm="0">
                                          <p:val>
                                            <p:strVal val="#ppt_x"/>
                                          </p:val>
                                        </p:tav>
                                        <p:tav tm="100000">
                                          <p:val>
                                            <p:strVal val="#ppt_x"/>
                                          </p:val>
                                        </p:tav>
                                      </p:tavLst>
                                    </p:anim>
                                    <p:anim calcmode="lin" valueType="num">
                                      <p:cBhvr>
                                        <p:cTn id="17" dur="900" decel="100000" fill="hold"/>
                                        <p:tgtEl>
                                          <p:spTgt spid="71683"/>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7168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p:bldP spid="7168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re 1"/>
          <p:cNvSpPr>
            <a:spLocks noGrp="1"/>
          </p:cNvSpPr>
          <p:nvPr>
            <p:ph type="title" idx="4294967295"/>
          </p:nvPr>
        </p:nvSpPr>
        <p:spPr>
          <a:xfrm>
            <a:off x="971600" y="260648"/>
            <a:ext cx="7668344" cy="939006"/>
          </a:xfrm>
          <a:prstGeom prst="wave">
            <a:avLst>
              <a:gd name="adj1" fmla="val 13005"/>
              <a:gd name="adj2" fmla="val 0"/>
            </a:avLst>
          </a:prstGeom>
          <a:solidFill>
            <a:schemeClr val="bg2"/>
          </a:solidFill>
          <a:ln>
            <a:solidFill>
              <a:srgbClr val="FF99CC"/>
            </a:solidFill>
            <a:round/>
            <a:headEnd type="none" w="med" len="med"/>
            <a:tailEnd type="none" w="med" len="med"/>
          </a:ln>
        </p:spPr>
        <p:txBody>
          <a:bodyPr lIns="91440" rIns="91440" bIns="45720">
            <a:normAutofit fontScale="90000"/>
          </a:bodyPr>
          <a:lstStyle/>
          <a:p>
            <a:pPr fontAlgn="auto">
              <a:spcAft>
                <a:spcPts val="0"/>
              </a:spcAft>
              <a:defRPr/>
            </a:pPr>
            <a:r>
              <a:rPr lang="fr-FR" sz="4000" b="1">
                <a:solidFill>
                  <a:schemeClr val="tx2"/>
                </a:solidFill>
              </a:rPr>
              <a:t>la notion de compétence</a:t>
            </a:r>
          </a:p>
        </p:txBody>
      </p:sp>
      <p:sp>
        <p:nvSpPr>
          <p:cNvPr id="4" name="Rectangle 3"/>
          <p:cNvSpPr/>
          <p:nvPr/>
        </p:nvSpPr>
        <p:spPr>
          <a:xfrm>
            <a:off x="467544" y="1484784"/>
            <a:ext cx="8208912" cy="3970318"/>
          </a:xfrm>
          <a:prstGeom prst="rect">
            <a:avLst/>
          </a:prstGeom>
        </p:spPr>
        <p:txBody>
          <a:bodyPr wrap="square">
            <a:spAutoFit/>
          </a:bodyPr>
          <a:lstStyle/>
          <a:p>
            <a:pPr>
              <a:lnSpc>
                <a:spcPct val="150000"/>
              </a:lnSpc>
            </a:pPr>
            <a:r>
              <a:rPr lang="fr-FR" sz="2400" b="1" dirty="0" smtClean="0"/>
              <a:t>Etre compétent c’est posséder, organiser et mobiliser</a:t>
            </a:r>
            <a:r>
              <a:rPr lang="fr-FR" sz="2400" dirty="0" smtClean="0"/>
              <a:t> au bon moment et à bon escient :</a:t>
            </a:r>
          </a:p>
          <a:p>
            <a:pPr>
              <a:lnSpc>
                <a:spcPct val="150000"/>
              </a:lnSpc>
              <a:buFont typeface="Wingdings" pitchFamily="2" charset="2"/>
              <a:buChar char="ü"/>
            </a:pPr>
            <a:r>
              <a:rPr lang="fr-FR" sz="2400" u="sng" dirty="0" smtClean="0"/>
              <a:t>Son savoir</a:t>
            </a:r>
            <a:r>
              <a:rPr lang="fr-FR" sz="2400" dirty="0" smtClean="0"/>
              <a:t> = connaissance aussi bien générale que spécialisée</a:t>
            </a:r>
          </a:p>
          <a:p>
            <a:pPr>
              <a:lnSpc>
                <a:spcPct val="150000"/>
              </a:lnSpc>
              <a:buFont typeface="Wingdings" pitchFamily="2" charset="2"/>
              <a:buChar char="ü"/>
            </a:pPr>
            <a:r>
              <a:rPr lang="fr-FR" sz="2400" u="sng" dirty="0" smtClean="0"/>
              <a:t>Son savoir-faire</a:t>
            </a:r>
            <a:r>
              <a:rPr lang="fr-FR" sz="2400" dirty="0" smtClean="0"/>
              <a:t> = mise en œuvre concrète de ses habiletés</a:t>
            </a:r>
          </a:p>
          <a:p>
            <a:pPr>
              <a:lnSpc>
                <a:spcPct val="150000"/>
              </a:lnSpc>
              <a:buFont typeface="Wingdings" pitchFamily="2" charset="2"/>
              <a:buChar char="ü"/>
            </a:pPr>
            <a:r>
              <a:rPr lang="fr-FR" sz="2400" u="sng" dirty="0" smtClean="0"/>
              <a:t>Son savoir-être</a:t>
            </a:r>
            <a:r>
              <a:rPr lang="fr-FR" sz="2400" dirty="0" smtClean="0"/>
              <a:t> : attitude comportementale</a:t>
            </a:r>
          </a:p>
          <a:p>
            <a:pPr>
              <a:lnSpc>
                <a:spcPct val="150000"/>
              </a:lnSpc>
              <a:buFont typeface="Wingdings" pitchFamily="2" charset="2"/>
              <a:buChar char="ü"/>
            </a:pPr>
            <a:r>
              <a:rPr lang="fr-FR" sz="2400" u="sng" dirty="0" smtClean="0"/>
              <a:t>Son savoir-évoluer</a:t>
            </a:r>
            <a:r>
              <a:rPr lang="fr-FR" sz="2400" dirty="0" smtClean="0"/>
              <a:t> : possibilités d’évolution et degrés de flexibilité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fade">
                                      <p:cBhvr>
                                        <p:cTn id="7" dur="1000"/>
                                        <p:tgtEl>
                                          <p:spTgt spid="72706"/>
                                        </p:tgtEl>
                                      </p:cBhvr>
                                    </p:animEffect>
                                    <p:anim calcmode="lin" valueType="num">
                                      <p:cBhvr>
                                        <p:cTn id="8" dur="1000" fill="hold"/>
                                        <p:tgtEl>
                                          <p:spTgt spid="72706"/>
                                        </p:tgtEl>
                                        <p:attrNameLst>
                                          <p:attrName>ppt_x</p:attrName>
                                        </p:attrNameLst>
                                      </p:cBhvr>
                                      <p:tavLst>
                                        <p:tav tm="0">
                                          <p:val>
                                            <p:strVal val="#ppt_x"/>
                                          </p:val>
                                        </p:tav>
                                        <p:tav tm="100000">
                                          <p:val>
                                            <p:strVal val="#ppt_x"/>
                                          </p:val>
                                        </p:tav>
                                      </p:tavLst>
                                    </p:anim>
                                    <p:anim calcmode="lin" valueType="num">
                                      <p:cBhvr>
                                        <p:cTn id="9" dur="900" decel="100000" fill="hold"/>
                                        <p:tgtEl>
                                          <p:spTgt spid="7270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270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re 1"/>
          <p:cNvSpPr>
            <a:spLocks noGrp="1"/>
          </p:cNvSpPr>
          <p:nvPr>
            <p:ph type="title" idx="4294967295"/>
          </p:nvPr>
        </p:nvSpPr>
        <p:spPr>
          <a:xfrm>
            <a:off x="755576" y="274638"/>
            <a:ext cx="7474024" cy="1143000"/>
          </a:xfrm>
          <a:prstGeom prst="wave">
            <a:avLst>
              <a:gd name="adj1" fmla="val 13005"/>
              <a:gd name="adj2" fmla="val 0"/>
            </a:avLst>
          </a:prstGeom>
          <a:solidFill>
            <a:schemeClr val="bg2"/>
          </a:solidFill>
        </p:spPr>
        <p:txBody>
          <a:bodyPr lIns="91440" rIns="91440" bIns="45720">
            <a:normAutofit fontScale="90000"/>
          </a:bodyPr>
          <a:lstStyle/>
          <a:p>
            <a:pPr fontAlgn="auto">
              <a:spcAft>
                <a:spcPts val="0"/>
              </a:spcAft>
              <a:defRPr/>
            </a:pPr>
            <a:r>
              <a:rPr lang="fr-FR" sz="4000" b="1">
                <a:solidFill>
                  <a:schemeClr val="tx2"/>
                </a:solidFill>
              </a:rPr>
              <a:t>la notion de compétence</a:t>
            </a:r>
          </a:p>
        </p:txBody>
      </p:sp>
      <p:sp>
        <p:nvSpPr>
          <p:cNvPr id="4" name="Rectangle 3"/>
          <p:cNvSpPr/>
          <p:nvPr/>
        </p:nvSpPr>
        <p:spPr>
          <a:xfrm>
            <a:off x="251520" y="1628800"/>
            <a:ext cx="8640960" cy="4401205"/>
          </a:xfrm>
          <a:prstGeom prst="rect">
            <a:avLst/>
          </a:prstGeom>
        </p:spPr>
        <p:txBody>
          <a:bodyPr wrap="square">
            <a:spAutoFit/>
          </a:bodyPr>
          <a:lstStyle/>
          <a:p>
            <a:r>
              <a:rPr lang="fr-FR" sz="4000" dirty="0" smtClean="0"/>
              <a:t>Définition encore plus large impliquant :</a:t>
            </a:r>
          </a:p>
          <a:p>
            <a:pPr>
              <a:buFont typeface="Wingdings" pitchFamily="2" charset="2"/>
              <a:buChar char="ü"/>
            </a:pPr>
            <a:r>
              <a:rPr lang="fr-FR" sz="4000" dirty="0" smtClean="0"/>
              <a:t>Un savoir-agir= capacité de mobiliser ses ressources</a:t>
            </a:r>
          </a:p>
          <a:p>
            <a:pPr>
              <a:buFont typeface="Wingdings" pitchFamily="2" charset="2"/>
              <a:buChar char="ü"/>
            </a:pPr>
            <a:r>
              <a:rPr lang="fr-FR" sz="4000" dirty="0" smtClean="0"/>
              <a:t>Un vouloir-agir= motivation personnelle</a:t>
            </a:r>
          </a:p>
          <a:p>
            <a:pPr>
              <a:buFont typeface="Wingdings" pitchFamily="2" charset="2"/>
              <a:buChar char="ü"/>
            </a:pPr>
            <a:r>
              <a:rPr lang="fr-FR" sz="4000" dirty="0" smtClean="0"/>
              <a:t>Un pouvoir-agir= contexte favorisant l’action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fade">
                                      <p:cBhvr>
                                        <p:cTn id="7" dur="1000"/>
                                        <p:tgtEl>
                                          <p:spTgt spid="73730"/>
                                        </p:tgtEl>
                                      </p:cBhvr>
                                    </p:animEffect>
                                    <p:anim calcmode="lin" valueType="num">
                                      <p:cBhvr>
                                        <p:cTn id="8" dur="1000" fill="hold"/>
                                        <p:tgtEl>
                                          <p:spTgt spid="73730"/>
                                        </p:tgtEl>
                                        <p:attrNameLst>
                                          <p:attrName>ppt_x</p:attrName>
                                        </p:attrNameLst>
                                      </p:cBhvr>
                                      <p:tavLst>
                                        <p:tav tm="0">
                                          <p:val>
                                            <p:strVal val="#ppt_x"/>
                                          </p:val>
                                        </p:tav>
                                        <p:tav tm="100000">
                                          <p:val>
                                            <p:strVal val="#ppt_x"/>
                                          </p:val>
                                        </p:tav>
                                      </p:tavLst>
                                    </p:anim>
                                    <p:anim calcmode="lin" valueType="num">
                                      <p:cBhvr>
                                        <p:cTn id="9" dur="900" decel="100000" fill="hold"/>
                                        <p:tgtEl>
                                          <p:spTgt spid="7373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373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29600" cy="850106"/>
          </a:xfrm>
        </p:spPr>
        <p:txBody>
          <a:bodyPr>
            <a:normAutofit fontScale="90000"/>
          </a:bodyPr>
          <a:lstStyle/>
          <a:p>
            <a:r>
              <a:rPr lang="fr-FR" sz="3100" b="1" dirty="0" smtClean="0"/>
              <a:t/>
            </a:r>
            <a:br>
              <a:rPr lang="fr-FR" sz="3100" b="1" dirty="0" smtClean="0"/>
            </a:br>
            <a:r>
              <a:rPr lang="fr-FR" sz="3100" b="1" dirty="0" smtClean="0"/>
              <a:t>Caractéristiques clés  de la compétence</a:t>
            </a:r>
            <a:r>
              <a:rPr lang="fr-FR" b="1" dirty="0" smtClean="0"/>
              <a:t/>
            </a:r>
            <a:br>
              <a:rPr lang="fr-FR" b="1" dirty="0" smtClean="0"/>
            </a:br>
            <a:endParaRPr lang="fr-FR" b="1" dirty="0"/>
          </a:p>
        </p:txBody>
      </p:sp>
      <p:sp>
        <p:nvSpPr>
          <p:cNvPr id="3" name="Espace réservé du contenu 2"/>
          <p:cNvSpPr>
            <a:spLocks noGrp="1"/>
          </p:cNvSpPr>
          <p:nvPr>
            <p:ph idx="1"/>
          </p:nvPr>
        </p:nvSpPr>
        <p:spPr>
          <a:xfrm>
            <a:off x="467544" y="1340768"/>
            <a:ext cx="8229600" cy="4525963"/>
          </a:xfrm>
        </p:spPr>
        <p:txBody>
          <a:bodyPr/>
          <a:lstStyle/>
          <a:p>
            <a:r>
              <a:rPr lang="fr-FR" dirty="0" smtClean="0"/>
              <a:t>Contextuelle : elle dépend de l’environnement professionnel.</a:t>
            </a:r>
          </a:p>
          <a:p>
            <a:r>
              <a:rPr lang="fr-FR" dirty="0" smtClean="0"/>
              <a:t>Évaluable : elle peut être mesurée à travers des critères objectifs.</a:t>
            </a:r>
          </a:p>
          <a:p>
            <a:r>
              <a:rPr lang="fr-FR" dirty="0" smtClean="0"/>
              <a:t>Dynamique : elle évolue avec le temps, les technologies et les besoins de l’organisation.</a:t>
            </a:r>
          </a:p>
          <a:p>
            <a:pPr>
              <a:buNone/>
            </a:pPr>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Qualification/compétence : quelle différence ? </a:t>
            </a:r>
            <a:endParaRPr lang="fr-FR" dirty="0"/>
          </a:p>
        </p:txBody>
      </p:sp>
      <p:sp>
        <p:nvSpPr>
          <p:cNvPr id="3" name="Espace réservé du contenu 2"/>
          <p:cNvSpPr>
            <a:spLocks noGrp="1"/>
          </p:cNvSpPr>
          <p:nvPr>
            <p:ph idx="1"/>
          </p:nvPr>
        </p:nvSpPr>
        <p:spPr>
          <a:xfrm>
            <a:off x="467544" y="2132856"/>
            <a:ext cx="8291264" cy="2476872"/>
          </a:xfrm>
        </p:spPr>
        <p:txBody>
          <a:bodyPr/>
          <a:lstStyle/>
          <a:p>
            <a:pPr lvl="1"/>
            <a:r>
              <a:rPr lang="fr-FR" b="1" dirty="0" smtClean="0"/>
              <a:t>Qualification</a:t>
            </a:r>
            <a:r>
              <a:rPr lang="fr-FR" dirty="0" smtClean="0"/>
              <a:t> : liée à un diplôme ou une certification.</a:t>
            </a:r>
          </a:p>
          <a:p>
            <a:pPr lvl="1"/>
            <a:r>
              <a:rPr lang="fr-FR" b="1" dirty="0" smtClean="0"/>
              <a:t>Compétence</a:t>
            </a:r>
            <a:r>
              <a:rPr lang="fr-FR" dirty="0" smtClean="0"/>
              <a:t> : mobilisation des savoirs et mise en action dans des situations concrètes.</a:t>
            </a:r>
          </a:p>
          <a:p>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636588" y="274638"/>
            <a:ext cx="7751836" cy="1138138"/>
          </a:xfrm>
          <a:prstGeom prst="horizontalScroll">
            <a:avLst>
              <a:gd name="adj" fmla="val 12500"/>
            </a:avLst>
          </a:prstGeom>
          <a:solidFill>
            <a:schemeClr val="bg2"/>
          </a:solidFill>
        </p:spPr>
        <p:txBody>
          <a:bodyPr lIns="91440" rIns="91440" bIns="45720">
            <a:normAutofit fontScale="90000"/>
          </a:bodyPr>
          <a:lstStyle/>
          <a:p>
            <a:r>
              <a:rPr lang="fr-FR" sz="4000" b="1" dirty="0" smtClean="0">
                <a:solidFill>
                  <a:schemeClr val="tx2"/>
                </a:solidFill>
              </a:rPr>
              <a:t>la hiérarchisation des compétences</a:t>
            </a:r>
          </a:p>
        </p:txBody>
      </p:sp>
      <p:sp>
        <p:nvSpPr>
          <p:cNvPr id="4" name="Rectangle 3"/>
          <p:cNvSpPr/>
          <p:nvPr/>
        </p:nvSpPr>
        <p:spPr>
          <a:xfrm>
            <a:off x="395536" y="1556792"/>
            <a:ext cx="8352928" cy="2603790"/>
          </a:xfrm>
          <a:prstGeom prst="rect">
            <a:avLst/>
          </a:prstGeom>
        </p:spPr>
        <p:txBody>
          <a:bodyPr wrap="square">
            <a:spAutoFit/>
          </a:bodyPr>
          <a:lstStyle/>
          <a:p>
            <a:pPr marL="274320" indent="-274320" fontAlgn="auto">
              <a:spcAft>
                <a:spcPct val="10000"/>
              </a:spcAft>
              <a:buClr>
                <a:schemeClr val="accent3"/>
              </a:buClr>
              <a:buFontTx/>
              <a:buNone/>
              <a:defRPr/>
            </a:pPr>
            <a:r>
              <a:rPr lang="fr-FR" sz="3200" dirty="0" smtClean="0"/>
              <a:t>La compétence est hiérarchisée par niveau de maitrise (exemple : débutant ou niveau connaissance, niveau intermédiaire, niveau avancé ou expert)</a:t>
            </a:r>
          </a:p>
          <a:p>
            <a:pPr marL="274320" indent="-274320" fontAlgn="auto">
              <a:spcAft>
                <a:spcPts val="0"/>
              </a:spcAft>
              <a:buClr>
                <a:schemeClr val="accent3"/>
              </a:buClr>
              <a:buFont typeface="Wingdings" pitchFamily="2" charset="2"/>
              <a:buChar char="v"/>
              <a:defRPr/>
            </a:pPr>
            <a:endParaRPr lang="fr-FR" sz="32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Hiérarchisation des compétences par niveau de maitrise </a:t>
            </a:r>
            <a:endParaRPr lang="fr-FR" dirty="0"/>
          </a:p>
        </p:txBody>
      </p:sp>
      <p:sp>
        <p:nvSpPr>
          <p:cNvPr id="3" name="Espace réservé du contenu 2"/>
          <p:cNvSpPr>
            <a:spLocks noGrp="1"/>
          </p:cNvSpPr>
          <p:nvPr>
            <p:ph idx="1"/>
          </p:nvPr>
        </p:nvSpPr>
        <p:spPr/>
        <p:txBody>
          <a:bodyPr>
            <a:normAutofit fontScale="92500" lnSpcReduction="20000"/>
          </a:bodyPr>
          <a:lstStyle/>
          <a:p>
            <a:r>
              <a:rPr lang="fr-FR" b="1" dirty="0" smtClean="0"/>
              <a:t>Niveau 1 : Notions de base (Initiation)</a:t>
            </a:r>
          </a:p>
          <a:p>
            <a:r>
              <a:rPr lang="fr-FR" b="1" dirty="0" smtClean="0"/>
              <a:t>Description :</a:t>
            </a:r>
            <a:r>
              <a:rPr lang="fr-FR" dirty="0" smtClean="0"/>
              <a:t> Compréhension élémentaire ou exposition initiale à la compétence. Capacité à suivre des instructions simples.</a:t>
            </a:r>
          </a:p>
          <a:p>
            <a:r>
              <a:rPr lang="fr-FR" b="1" i="1" dirty="0" smtClean="0">
                <a:solidFill>
                  <a:schemeClr val="tx2"/>
                </a:solidFill>
              </a:rPr>
              <a:t>Exemples :</a:t>
            </a:r>
            <a:endParaRPr lang="fr-FR" i="1" dirty="0" smtClean="0">
              <a:solidFill>
                <a:schemeClr val="tx2"/>
              </a:solidFill>
            </a:endParaRPr>
          </a:p>
          <a:p>
            <a:pPr lvl="1"/>
            <a:r>
              <a:rPr lang="fr-FR" i="1" dirty="0" smtClean="0">
                <a:solidFill>
                  <a:schemeClr val="tx2"/>
                </a:solidFill>
              </a:rPr>
              <a:t>Utilisation basique d’un logiciel comme Excel pour saisir des données.</a:t>
            </a:r>
          </a:p>
          <a:p>
            <a:pPr lvl="1"/>
            <a:r>
              <a:rPr lang="fr-FR" i="1" dirty="0" smtClean="0">
                <a:solidFill>
                  <a:schemeClr val="tx2"/>
                </a:solidFill>
              </a:rPr>
              <a:t>Communication simple dans une langue étrangère (niveau débutant).</a:t>
            </a:r>
          </a:p>
          <a:p>
            <a:pPr lvl="1"/>
            <a:r>
              <a:rPr lang="fr-FR" i="1" dirty="0" smtClean="0">
                <a:solidFill>
                  <a:schemeClr val="tx2"/>
                </a:solidFill>
              </a:rPr>
              <a:t>Compréhension des principes fondamentaux de la gestion de projet.</a:t>
            </a:r>
          </a:p>
          <a:p>
            <a:endParaRPr lang="fr-F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Hiérarchisation des compétences par niveau de maitrise </a:t>
            </a:r>
            <a:endParaRPr lang="fr-FR" dirty="0"/>
          </a:p>
        </p:txBody>
      </p:sp>
      <p:sp>
        <p:nvSpPr>
          <p:cNvPr id="3" name="Espace réservé du contenu 2"/>
          <p:cNvSpPr>
            <a:spLocks noGrp="1"/>
          </p:cNvSpPr>
          <p:nvPr>
            <p:ph idx="1"/>
          </p:nvPr>
        </p:nvSpPr>
        <p:spPr/>
        <p:txBody>
          <a:bodyPr>
            <a:normAutofit fontScale="92500"/>
          </a:bodyPr>
          <a:lstStyle/>
          <a:p>
            <a:r>
              <a:rPr lang="fr-FR" b="1" dirty="0" smtClean="0"/>
              <a:t>Niveau 2 : Application pratique (Opérationnel)</a:t>
            </a:r>
          </a:p>
          <a:p>
            <a:r>
              <a:rPr lang="fr-FR" b="1" dirty="0" smtClean="0"/>
              <a:t>Description :</a:t>
            </a:r>
            <a:r>
              <a:rPr lang="fr-FR" dirty="0" smtClean="0"/>
              <a:t> Capacité à appliquer la compétence dans des situations courantes sous supervision.</a:t>
            </a:r>
          </a:p>
          <a:p>
            <a:r>
              <a:rPr lang="fr-FR" b="1" i="1" dirty="0" smtClean="0">
                <a:solidFill>
                  <a:schemeClr val="tx2"/>
                </a:solidFill>
              </a:rPr>
              <a:t>Exemples :</a:t>
            </a:r>
            <a:endParaRPr lang="fr-FR" i="1" dirty="0" smtClean="0">
              <a:solidFill>
                <a:schemeClr val="tx2"/>
              </a:solidFill>
            </a:endParaRPr>
          </a:p>
          <a:p>
            <a:pPr lvl="1"/>
            <a:r>
              <a:rPr lang="fr-FR" i="1" dirty="0" smtClean="0">
                <a:solidFill>
                  <a:schemeClr val="tx2"/>
                </a:solidFill>
              </a:rPr>
              <a:t>Création de graphiques et utilisation de formules dans Excel pour des tâches répétitives.</a:t>
            </a:r>
          </a:p>
          <a:p>
            <a:pPr lvl="1"/>
            <a:r>
              <a:rPr lang="fr-FR" i="1" dirty="0" smtClean="0">
                <a:solidFill>
                  <a:schemeClr val="tx2"/>
                </a:solidFill>
              </a:rPr>
              <a:t>Participation active à des réunions en langue étrangère avec des phrases préparées.</a:t>
            </a:r>
          </a:p>
          <a:p>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Hiérarchisation des compétences par niveau de maitrise </a:t>
            </a:r>
            <a:endParaRPr lang="fr-FR" dirty="0"/>
          </a:p>
        </p:txBody>
      </p:sp>
      <p:sp>
        <p:nvSpPr>
          <p:cNvPr id="3" name="Espace réservé du contenu 2"/>
          <p:cNvSpPr>
            <a:spLocks noGrp="1"/>
          </p:cNvSpPr>
          <p:nvPr>
            <p:ph idx="1"/>
          </p:nvPr>
        </p:nvSpPr>
        <p:spPr/>
        <p:txBody>
          <a:bodyPr>
            <a:normAutofit lnSpcReduction="10000"/>
          </a:bodyPr>
          <a:lstStyle/>
          <a:p>
            <a:r>
              <a:rPr lang="fr-FR" b="1" dirty="0" smtClean="0"/>
              <a:t>Niveau 3 : Maîtrise avancée (Autonomie)</a:t>
            </a:r>
          </a:p>
          <a:p>
            <a:r>
              <a:rPr lang="fr-FR" b="1" dirty="0" smtClean="0"/>
              <a:t>Description :</a:t>
            </a:r>
            <a:r>
              <a:rPr lang="fr-FR" dirty="0" smtClean="0"/>
              <a:t> Capacité à travailler de manière autonome et à résoudre des problèmes dans un domaine spécifique.</a:t>
            </a:r>
          </a:p>
          <a:p>
            <a:r>
              <a:rPr lang="fr-FR" b="1" i="1" dirty="0" smtClean="0">
                <a:solidFill>
                  <a:schemeClr val="tx2"/>
                </a:solidFill>
              </a:rPr>
              <a:t>Exemples :</a:t>
            </a:r>
            <a:endParaRPr lang="fr-FR" i="1" dirty="0" smtClean="0">
              <a:solidFill>
                <a:schemeClr val="tx2"/>
              </a:solidFill>
            </a:endParaRPr>
          </a:p>
          <a:p>
            <a:pPr lvl="1"/>
            <a:r>
              <a:rPr lang="fr-FR" i="1" dirty="0" smtClean="0">
                <a:solidFill>
                  <a:schemeClr val="tx2"/>
                </a:solidFill>
              </a:rPr>
              <a:t>Création de tableaux croisés dynamiques complexes dans Excel pour l’analyse de données.</a:t>
            </a:r>
          </a:p>
          <a:p>
            <a:pPr lvl="1"/>
            <a:r>
              <a:rPr lang="fr-FR" i="1" dirty="0" smtClean="0">
                <a:solidFill>
                  <a:schemeClr val="tx2"/>
                </a:solidFill>
              </a:rPr>
              <a:t>Rédaction d’un rapport technique ou d’un courriel professionnel en langue étrangère.</a:t>
            </a:r>
          </a:p>
          <a:p>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Hiérarchisation des compétences </a:t>
            </a:r>
            <a:r>
              <a:rPr lang="fr-FR" u="sng" dirty="0" smtClean="0"/>
              <a:t>par niveau de maitrise </a:t>
            </a:r>
            <a:endParaRPr lang="fr-FR" u="sng" dirty="0"/>
          </a:p>
        </p:txBody>
      </p:sp>
      <p:sp>
        <p:nvSpPr>
          <p:cNvPr id="3" name="Espace réservé du contenu 2"/>
          <p:cNvSpPr>
            <a:spLocks noGrp="1"/>
          </p:cNvSpPr>
          <p:nvPr>
            <p:ph idx="1"/>
          </p:nvPr>
        </p:nvSpPr>
        <p:spPr/>
        <p:txBody>
          <a:bodyPr>
            <a:normAutofit fontScale="92500"/>
          </a:bodyPr>
          <a:lstStyle/>
          <a:p>
            <a:r>
              <a:rPr lang="fr-FR" b="1" dirty="0" smtClean="0"/>
              <a:t>Niveau 4 : Expertise (Leadership)</a:t>
            </a:r>
          </a:p>
          <a:p>
            <a:r>
              <a:rPr lang="fr-FR" b="1" dirty="0" smtClean="0"/>
              <a:t>Description :</a:t>
            </a:r>
            <a:r>
              <a:rPr lang="fr-FR" dirty="0" smtClean="0"/>
              <a:t> Capacité à enseigner, guider ou conseiller d'autres personnes sur la compétence. Aptitude à innover ou à optimiser les processus.</a:t>
            </a:r>
          </a:p>
          <a:p>
            <a:r>
              <a:rPr lang="fr-FR" b="1" i="1" dirty="0" smtClean="0">
                <a:solidFill>
                  <a:schemeClr val="tx2"/>
                </a:solidFill>
              </a:rPr>
              <a:t>Exemples :</a:t>
            </a:r>
            <a:endParaRPr lang="fr-FR" i="1" dirty="0" smtClean="0">
              <a:solidFill>
                <a:schemeClr val="tx2"/>
              </a:solidFill>
            </a:endParaRPr>
          </a:p>
          <a:p>
            <a:pPr lvl="1"/>
            <a:r>
              <a:rPr lang="fr-FR" i="1" dirty="0" smtClean="0">
                <a:solidFill>
                  <a:schemeClr val="tx2"/>
                </a:solidFill>
              </a:rPr>
              <a:t>Développement de macros VBA dans Excel pour automatiser des processus complexes.</a:t>
            </a:r>
          </a:p>
          <a:p>
            <a:pPr lvl="1"/>
            <a:r>
              <a:rPr lang="fr-FR" i="1" dirty="0" smtClean="0">
                <a:solidFill>
                  <a:schemeClr val="tx2"/>
                </a:solidFill>
              </a:rPr>
              <a:t>Animation d’ateliers de formation en langue étrangère pour des collègues.</a:t>
            </a:r>
          </a:p>
          <a:p>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re 1"/>
          <p:cNvSpPr>
            <a:spLocks noGrp="1"/>
          </p:cNvSpPr>
          <p:nvPr>
            <p:ph type="title" idx="4294967295"/>
          </p:nvPr>
        </p:nvSpPr>
        <p:spPr>
          <a:xfrm>
            <a:off x="683568" y="332656"/>
            <a:ext cx="7812360" cy="2232248"/>
          </a:xfrm>
          <a:prstGeom prst="wave">
            <a:avLst>
              <a:gd name="adj1" fmla="val 13005"/>
              <a:gd name="adj2" fmla="val 0"/>
            </a:avLst>
          </a:prstGeom>
          <a:solidFill>
            <a:schemeClr val="bg2"/>
          </a:solidFill>
        </p:spPr>
        <p:txBody>
          <a:bodyPr lIns="91440" rIns="91440" bIns="45720">
            <a:normAutofit fontScale="90000"/>
          </a:bodyPr>
          <a:lstStyle/>
          <a:p>
            <a:pPr lvl="2" algn="ctr" rtl="0">
              <a:spcBef>
                <a:spcPct val="0"/>
              </a:spcBef>
              <a:defRPr/>
            </a:pPr>
            <a:r>
              <a:rPr lang="fr-FR" sz="2700" b="1" dirty="0" smtClean="0">
                <a:solidFill>
                  <a:schemeClr val="tx2"/>
                </a:solidFill>
                <a:latin typeface="+mn-lt"/>
              </a:rPr>
              <a:t/>
            </a:r>
            <a:br>
              <a:rPr lang="fr-FR" sz="2700" b="1" dirty="0" smtClean="0">
                <a:solidFill>
                  <a:schemeClr val="tx2"/>
                </a:solidFill>
                <a:latin typeface="+mn-lt"/>
              </a:rPr>
            </a:br>
            <a:r>
              <a:rPr lang="fr-FR" sz="2700" b="1" dirty="0" smtClean="0">
                <a:solidFill>
                  <a:schemeClr val="tx2"/>
                </a:solidFill>
                <a:latin typeface="+mn-lt"/>
              </a:rPr>
              <a:t>La </a:t>
            </a:r>
            <a:r>
              <a:rPr lang="fr-FR" sz="2700" b="1" dirty="0">
                <a:solidFill>
                  <a:schemeClr val="tx2"/>
                </a:solidFill>
                <a:latin typeface="+mn-lt"/>
              </a:rPr>
              <a:t>hiérarchisation des </a:t>
            </a:r>
            <a:r>
              <a:rPr lang="fr-FR" sz="2700" b="1" dirty="0" smtClean="0">
                <a:solidFill>
                  <a:schemeClr val="tx2"/>
                </a:solidFill>
                <a:latin typeface="+mn-lt"/>
              </a:rPr>
              <a:t>compétences : </a:t>
            </a:r>
            <a:br>
              <a:rPr lang="fr-FR" sz="2700" b="1" dirty="0" smtClean="0">
                <a:solidFill>
                  <a:schemeClr val="tx2"/>
                </a:solidFill>
                <a:latin typeface="+mn-lt"/>
              </a:rPr>
            </a:br>
            <a:r>
              <a:rPr lang="fr-FR" sz="2700" b="1" u="sng" dirty="0" smtClean="0">
                <a:latin typeface="+mn-lt"/>
              </a:rPr>
              <a:t>par </a:t>
            </a:r>
            <a:r>
              <a:rPr lang="fr-FR" sz="2700" b="1" u="sng" dirty="0">
                <a:latin typeface="+mn-lt"/>
              </a:rPr>
              <a:t>niveau d’efficacité dans l’emploi</a:t>
            </a:r>
            <a:r>
              <a:rPr lang="fr-FR" sz="2800" b="1" u="sng" dirty="0"/>
              <a:t/>
            </a:r>
            <a:br>
              <a:rPr lang="fr-FR" sz="2800" b="1" u="sng" dirty="0"/>
            </a:br>
            <a:endParaRPr lang="fr-FR" sz="4000" b="1" u="sng" dirty="0">
              <a:solidFill>
                <a:schemeClr val="tx2"/>
              </a:solidFill>
            </a:endParaRPr>
          </a:p>
        </p:txBody>
      </p:sp>
      <p:sp>
        <p:nvSpPr>
          <p:cNvPr id="4" name="Rectangle 3"/>
          <p:cNvSpPr/>
          <p:nvPr/>
        </p:nvSpPr>
        <p:spPr>
          <a:xfrm>
            <a:off x="611560" y="3429000"/>
            <a:ext cx="7848872" cy="1815882"/>
          </a:xfrm>
          <a:prstGeom prst="rect">
            <a:avLst/>
          </a:prstGeom>
        </p:spPr>
        <p:txBody>
          <a:bodyPr wrap="square">
            <a:spAutoFit/>
          </a:bodyPr>
          <a:lstStyle/>
          <a:p>
            <a:pPr algn="ctr">
              <a:spcBef>
                <a:spcPct val="50000"/>
              </a:spcBef>
              <a:buFont typeface="Arial" pitchFamily="34" charset="0"/>
              <a:buChar char="•"/>
            </a:pPr>
            <a:r>
              <a:rPr lang="fr-FR" sz="2800" dirty="0" smtClean="0"/>
              <a:t>Les compétences stratégiques</a:t>
            </a:r>
          </a:p>
          <a:p>
            <a:pPr algn="ctr">
              <a:spcBef>
                <a:spcPct val="50000"/>
              </a:spcBef>
              <a:buFont typeface="Arial" pitchFamily="34" charset="0"/>
              <a:buChar char="•"/>
            </a:pPr>
            <a:r>
              <a:rPr lang="fr-FR" sz="2800" dirty="0" smtClean="0"/>
              <a:t>Les compétences secondaires</a:t>
            </a:r>
          </a:p>
          <a:p>
            <a:pPr algn="ctr">
              <a:spcBef>
                <a:spcPct val="50000"/>
              </a:spcBef>
              <a:buFont typeface="Arial" pitchFamily="34" charset="0"/>
              <a:buChar char="•"/>
            </a:pPr>
            <a:r>
              <a:rPr lang="fr-FR" sz="2800" dirty="0" smtClean="0"/>
              <a:t>Les compétences accessoires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from="(-#ppt_w/2)" to="(#ppt_x)" calcmode="lin" valueType="num">
                                      <p:cBhvr>
                                        <p:cTn id="7" dur="600" fill="hold">
                                          <p:stCondLst>
                                            <p:cond delay="0"/>
                                          </p:stCondLst>
                                        </p:cTn>
                                        <p:tgtEl>
                                          <p:spTgt spid="76802"/>
                                        </p:tgtEl>
                                        <p:attrNameLst>
                                          <p:attrName>ppt_x</p:attrName>
                                        </p:attrNameLst>
                                      </p:cBhvr>
                                    </p:anim>
                                    <p:anim from="0" to="-1.0" calcmode="lin" valueType="num">
                                      <p:cBhvr>
                                        <p:cTn id="8" dur="200" decel="50000" autoRev="1" fill="hold">
                                          <p:stCondLst>
                                            <p:cond delay="600"/>
                                          </p:stCondLst>
                                        </p:cTn>
                                        <p:tgtEl>
                                          <p:spTgt spid="76802"/>
                                        </p:tgtEl>
                                        <p:attrNameLst>
                                          <p:attrName>xshear</p:attrName>
                                        </p:attrNameLst>
                                      </p:cBhvr>
                                    </p:anim>
                                    <p:animScale>
                                      <p:cBhvr>
                                        <p:cTn id="9" dur="200" decel="100000" autoRev="1" fill="hold">
                                          <p:stCondLst>
                                            <p:cond delay="600"/>
                                          </p:stCondLst>
                                        </p:cTn>
                                        <p:tgtEl>
                                          <p:spTgt spid="76802"/>
                                        </p:tgtEl>
                                      </p:cBhvr>
                                      <p:from x="100000" y="100000"/>
                                      <p:to x="80000" y="100000"/>
                                    </p:animScale>
                                    <p:anim by="(#ppt_h/3+#ppt_w*0.1)" calcmode="lin" valueType="num">
                                      <p:cBhvr additive="sum">
                                        <p:cTn id="10" dur="200" decel="100000" autoRev="1" fill="hold">
                                          <p:stCondLst>
                                            <p:cond delay="600"/>
                                          </p:stCondLst>
                                        </p:cTn>
                                        <p:tgtEl>
                                          <p:spTgt spid="7680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La hiérarchisation des compétences</a:t>
            </a:r>
            <a:endParaRPr lang="fr-FR" dirty="0"/>
          </a:p>
        </p:txBody>
      </p:sp>
      <p:sp>
        <p:nvSpPr>
          <p:cNvPr id="3" name="Espace réservé du contenu 2"/>
          <p:cNvSpPr>
            <a:spLocks noGrp="1"/>
          </p:cNvSpPr>
          <p:nvPr>
            <p:ph idx="1"/>
          </p:nvPr>
        </p:nvSpPr>
        <p:spPr/>
        <p:txBody>
          <a:bodyPr>
            <a:normAutofit fontScale="85000" lnSpcReduction="10000"/>
          </a:bodyPr>
          <a:lstStyle/>
          <a:p>
            <a:pPr>
              <a:buNone/>
            </a:pPr>
            <a:r>
              <a:rPr lang="fr-FR" dirty="0" smtClean="0"/>
              <a:t>Les compétences stratégiques : ce sont des compétences clés qui sont indispensables pour atteindre les objectifs de l'organisation. Elles ont un impact direct sur la compétitivité et la performance globale.</a:t>
            </a:r>
          </a:p>
          <a:p>
            <a:r>
              <a:rPr lang="fr-FR" b="1" i="1" dirty="0" smtClean="0">
                <a:solidFill>
                  <a:schemeClr val="tx2"/>
                </a:solidFill>
              </a:rPr>
              <a:t>Exemples :</a:t>
            </a:r>
            <a:endParaRPr lang="fr-FR" i="1" dirty="0" smtClean="0">
              <a:solidFill>
                <a:schemeClr val="tx2"/>
              </a:solidFill>
            </a:endParaRPr>
          </a:p>
          <a:p>
            <a:r>
              <a:rPr lang="fr-FR" b="1" i="1" dirty="0" smtClean="0">
                <a:solidFill>
                  <a:schemeClr val="tx2"/>
                </a:solidFill>
              </a:rPr>
              <a:t>Gestion stratégique</a:t>
            </a:r>
            <a:r>
              <a:rPr lang="fr-FR" i="1" dirty="0" smtClean="0">
                <a:solidFill>
                  <a:schemeClr val="tx2"/>
                </a:solidFill>
              </a:rPr>
              <a:t> : capacité à aligner les objectifs de l'entreprise avec les ressources.</a:t>
            </a:r>
          </a:p>
          <a:p>
            <a:r>
              <a:rPr lang="fr-FR" b="1" i="1" dirty="0" smtClean="0">
                <a:solidFill>
                  <a:schemeClr val="tx2"/>
                </a:solidFill>
              </a:rPr>
              <a:t>Leadership visionnaire</a:t>
            </a:r>
            <a:r>
              <a:rPr lang="fr-FR" i="1" dirty="0" smtClean="0">
                <a:solidFill>
                  <a:schemeClr val="tx2"/>
                </a:solidFill>
              </a:rPr>
              <a:t> : aptitude à diriger avec une vision claire pour le futur.</a:t>
            </a:r>
          </a:p>
          <a:p>
            <a:r>
              <a:rPr lang="fr-FR" b="1" i="1" dirty="0" smtClean="0">
                <a:solidFill>
                  <a:schemeClr val="tx2"/>
                </a:solidFill>
              </a:rPr>
              <a:t>Gestion de l'innovation</a:t>
            </a:r>
            <a:r>
              <a:rPr lang="fr-FR" i="1" dirty="0" smtClean="0">
                <a:solidFill>
                  <a:schemeClr val="tx2"/>
                </a:solidFill>
              </a:rPr>
              <a:t> : savoir introduire et gérer des changements innovants.</a:t>
            </a:r>
          </a:p>
          <a:p>
            <a:endParaRPr lang="fr-F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La hiérarchisation des compétences</a:t>
            </a:r>
            <a:endParaRPr lang="fr-FR" dirty="0"/>
          </a:p>
        </p:txBody>
      </p:sp>
      <p:sp>
        <p:nvSpPr>
          <p:cNvPr id="3" name="Espace réservé du contenu 2"/>
          <p:cNvSpPr>
            <a:spLocks noGrp="1"/>
          </p:cNvSpPr>
          <p:nvPr>
            <p:ph idx="1"/>
          </p:nvPr>
        </p:nvSpPr>
        <p:spPr/>
        <p:txBody>
          <a:bodyPr>
            <a:normAutofit fontScale="92500" lnSpcReduction="20000"/>
          </a:bodyPr>
          <a:lstStyle/>
          <a:p>
            <a:pPr>
              <a:buNone/>
            </a:pPr>
            <a:r>
              <a:rPr lang="fr-FR" b="1" dirty="0" smtClean="0"/>
              <a:t>Les compétences secondaires : </a:t>
            </a:r>
            <a:r>
              <a:rPr lang="fr-FR" dirty="0" smtClean="0"/>
              <a:t>Ces compétences soutiennent les compétences stratégiques. Elles sont utiles pour améliorer les performances opérationnelles.</a:t>
            </a:r>
          </a:p>
          <a:p>
            <a:r>
              <a:rPr lang="fr-FR" b="1" i="1" dirty="0" smtClean="0">
                <a:solidFill>
                  <a:schemeClr val="tx2"/>
                </a:solidFill>
              </a:rPr>
              <a:t>Exemples :</a:t>
            </a:r>
            <a:endParaRPr lang="fr-FR" i="1" dirty="0" smtClean="0">
              <a:solidFill>
                <a:schemeClr val="tx2"/>
              </a:solidFill>
            </a:endParaRPr>
          </a:p>
          <a:p>
            <a:r>
              <a:rPr lang="fr-FR" b="1" i="1" dirty="0" smtClean="0">
                <a:solidFill>
                  <a:schemeClr val="tx2"/>
                </a:solidFill>
              </a:rPr>
              <a:t>Analyse de données</a:t>
            </a:r>
            <a:r>
              <a:rPr lang="fr-FR" i="1" dirty="0" smtClean="0">
                <a:solidFill>
                  <a:schemeClr val="tx2"/>
                </a:solidFill>
              </a:rPr>
              <a:t> : savoir interpréter des chiffres pour orienter des décisions.</a:t>
            </a:r>
          </a:p>
          <a:p>
            <a:r>
              <a:rPr lang="fr-FR" b="1" i="1" dirty="0" smtClean="0">
                <a:solidFill>
                  <a:schemeClr val="tx2"/>
                </a:solidFill>
              </a:rPr>
              <a:t>Communication interculturelle</a:t>
            </a:r>
            <a:r>
              <a:rPr lang="fr-FR" i="1" dirty="0" smtClean="0">
                <a:solidFill>
                  <a:schemeClr val="tx2"/>
                </a:solidFill>
              </a:rPr>
              <a:t> : capacité à collaborer avec des équipes de cultures diverses.</a:t>
            </a:r>
          </a:p>
          <a:p>
            <a:r>
              <a:rPr lang="fr-FR" b="1" i="1" dirty="0" smtClean="0">
                <a:solidFill>
                  <a:schemeClr val="tx2"/>
                </a:solidFill>
              </a:rPr>
              <a:t>Négociation commerciale</a:t>
            </a:r>
            <a:r>
              <a:rPr lang="fr-FR" i="1" dirty="0" smtClean="0">
                <a:solidFill>
                  <a:schemeClr val="tx2"/>
                </a:solidFill>
              </a:rPr>
              <a:t> : savoir conclure des accords rentables.</a:t>
            </a:r>
          </a:p>
          <a:p>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85000" lnSpcReduction="10000"/>
          </a:bodyPr>
          <a:lstStyle/>
          <a:p>
            <a:pPr>
              <a:buNone/>
            </a:pPr>
            <a:r>
              <a:rPr lang="fr-FR" b="1" dirty="0" smtClean="0"/>
              <a:t>Les compétences accessoires : </a:t>
            </a:r>
            <a:r>
              <a:rPr lang="fr-FR" dirty="0" smtClean="0"/>
              <a:t>ce sont des compétences complémentaires qui apportent une valeur ajoutée, mais elles ne sont ni essentielles ni prioritaires.</a:t>
            </a:r>
          </a:p>
          <a:p>
            <a:r>
              <a:rPr lang="fr-FR" b="1" i="1" dirty="0" smtClean="0">
                <a:solidFill>
                  <a:schemeClr val="tx2"/>
                </a:solidFill>
              </a:rPr>
              <a:t>Exemples :</a:t>
            </a:r>
            <a:endParaRPr lang="fr-FR" i="1" dirty="0" smtClean="0">
              <a:solidFill>
                <a:schemeClr val="tx2"/>
              </a:solidFill>
            </a:endParaRPr>
          </a:p>
          <a:p>
            <a:r>
              <a:rPr lang="fr-FR" b="1" i="1" dirty="0" smtClean="0">
                <a:solidFill>
                  <a:schemeClr val="tx2"/>
                </a:solidFill>
              </a:rPr>
              <a:t>Création graphique</a:t>
            </a:r>
            <a:r>
              <a:rPr lang="fr-FR" i="1" dirty="0" smtClean="0">
                <a:solidFill>
                  <a:schemeClr val="tx2"/>
                </a:solidFill>
              </a:rPr>
              <a:t> : utile pour des présentations, mais pas indispensable pour tous les rôles.</a:t>
            </a:r>
          </a:p>
          <a:p>
            <a:r>
              <a:rPr lang="fr-FR" b="1" i="1" dirty="0" smtClean="0">
                <a:solidFill>
                  <a:schemeClr val="tx2"/>
                </a:solidFill>
              </a:rPr>
              <a:t>Maîtrise d'une langue étrangère peu utilisée dans l'environnement</a:t>
            </a:r>
            <a:r>
              <a:rPr lang="fr-FR" i="1" dirty="0" smtClean="0">
                <a:solidFill>
                  <a:schemeClr val="tx2"/>
                </a:solidFill>
              </a:rPr>
              <a:t>.</a:t>
            </a:r>
          </a:p>
          <a:p>
            <a:r>
              <a:rPr lang="fr-FR" b="1" i="1" dirty="0" smtClean="0">
                <a:solidFill>
                  <a:schemeClr val="tx2"/>
                </a:solidFill>
              </a:rPr>
              <a:t>Organisation d'événements</a:t>
            </a:r>
            <a:r>
              <a:rPr lang="fr-FR" i="1" dirty="0" smtClean="0">
                <a:solidFill>
                  <a:schemeClr val="tx2"/>
                </a:solidFill>
              </a:rPr>
              <a:t> : compétence appréciée dans certains contextes sans être critique.</a:t>
            </a:r>
          </a:p>
          <a:p>
            <a:endParaRPr lang="fr-FR" dirty="0"/>
          </a:p>
        </p:txBody>
      </p:sp>
      <p:sp>
        <p:nvSpPr>
          <p:cNvPr id="4" name="Titre 1"/>
          <p:cNvSpPr>
            <a:spLocks noGrp="1"/>
          </p:cNvSpPr>
          <p:nvPr>
            <p:ph type="title"/>
          </p:nvPr>
        </p:nvSpPr>
        <p:spPr/>
        <p:txBody>
          <a:bodyPr>
            <a:normAutofit fontScale="90000"/>
          </a:bodyPr>
          <a:lstStyle/>
          <a:p>
            <a:r>
              <a:rPr lang="fr-FR" dirty="0" smtClean="0"/>
              <a:t>La hiérarchisation des compétences</a:t>
            </a:r>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l’ingénierie des compétences</a:t>
            </a:r>
            <a:endParaRPr lang="fr-FR" dirty="0"/>
          </a:p>
        </p:txBody>
      </p:sp>
      <p:sp>
        <p:nvSpPr>
          <p:cNvPr id="3" name="Espace réservé du contenu 2"/>
          <p:cNvSpPr>
            <a:spLocks noGrp="1"/>
          </p:cNvSpPr>
          <p:nvPr>
            <p:ph idx="1"/>
          </p:nvPr>
        </p:nvSpPr>
        <p:spPr/>
        <p:txBody>
          <a:bodyPr/>
          <a:lstStyle/>
          <a:p>
            <a:r>
              <a:rPr lang="fr-FR" b="1" dirty="0" smtClean="0"/>
              <a:t>Qu’est-ce que l’ingénierie des compétences ?</a:t>
            </a:r>
          </a:p>
          <a:p>
            <a:r>
              <a:rPr lang="fr-FR" dirty="0" smtClean="0"/>
              <a:t>L’ingénierie des compétences est une démarche structurée visant à </a:t>
            </a:r>
            <a:r>
              <a:rPr lang="fr-FR" b="1" dirty="0" smtClean="0"/>
              <a:t>identifier, analyser, développer et valoriser les compétences nécessaires</a:t>
            </a:r>
            <a:r>
              <a:rPr lang="fr-FR" dirty="0" smtClean="0"/>
              <a:t> pour répondre aux besoins stratégiques et opérationnels d’une organisation.</a:t>
            </a:r>
          </a:p>
          <a:p>
            <a:endParaRPr lang="fr-F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Principaux objectifs de l’ingénierie des compétences </a:t>
            </a:r>
            <a:endParaRPr lang="fr-FR" dirty="0"/>
          </a:p>
        </p:txBody>
      </p:sp>
      <p:sp>
        <p:nvSpPr>
          <p:cNvPr id="3" name="Espace réservé du contenu 2"/>
          <p:cNvSpPr>
            <a:spLocks noGrp="1"/>
          </p:cNvSpPr>
          <p:nvPr>
            <p:ph idx="1"/>
          </p:nvPr>
        </p:nvSpPr>
        <p:spPr/>
        <p:txBody>
          <a:bodyPr>
            <a:normAutofit fontScale="92500" lnSpcReduction="20000"/>
          </a:bodyPr>
          <a:lstStyle/>
          <a:p>
            <a:pPr>
              <a:buNone/>
            </a:pPr>
            <a:endParaRPr lang="fr-FR" b="1" dirty="0" smtClean="0"/>
          </a:p>
          <a:p>
            <a:r>
              <a:rPr lang="fr-FR" b="1" dirty="0" smtClean="0"/>
              <a:t>Alignement stratégique</a:t>
            </a:r>
            <a:r>
              <a:rPr lang="fr-FR" dirty="0" smtClean="0"/>
              <a:t> : garantir que les compétences disponibles sont en adéquation avec les objectifs de l’organisation.</a:t>
            </a:r>
          </a:p>
          <a:p>
            <a:r>
              <a:rPr lang="fr-FR" b="1" dirty="0" smtClean="0"/>
              <a:t>Optimisation des ressources humaines</a:t>
            </a:r>
            <a:r>
              <a:rPr lang="fr-FR" dirty="0" smtClean="0"/>
              <a:t> : développer des talents pour renforcer la performance.</a:t>
            </a:r>
          </a:p>
          <a:p>
            <a:r>
              <a:rPr lang="fr-FR" b="1" dirty="0" smtClean="0"/>
              <a:t>Anticipation des évolutions</a:t>
            </a:r>
            <a:r>
              <a:rPr lang="fr-FR" dirty="0" smtClean="0"/>
              <a:t> : </a:t>
            </a:r>
            <a:r>
              <a:rPr lang="fr-FR" b="1" u="sng" dirty="0" smtClean="0">
                <a:solidFill>
                  <a:schemeClr val="tx2"/>
                </a:solidFill>
              </a:rPr>
              <a:t>prévoir les compétences futures nécessaires </a:t>
            </a:r>
            <a:r>
              <a:rPr lang="fr-FR" dirty="0" smtClean="0"/>
              <a:t>face aux changements technologiques, économiques ou sociaux.</a:t>
            </a:r>
          </a:p>
          <a:p>
            <a:endParaRPr lang="fr-F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Objectifs de l’ingénierie des compétences </a:t>
            </a:r>
            <a:endParaRPr lang="fr-FR" dirty="0"/>
          </a:p>
        </p:txBody>
      </p:sp>
      <p:sp>
        <p:nvSpPr>
          <p:cNvPr id="3" name="Espace réservé du contenu 2"/>
          <p:cNvSpPr>
            <a:spLocks noGrp="1"/>
          </p:cNvSpPr>
          <p:nvPr>
            <p:ph idx="1"/>
          </p:nvPr>
        </p:nvSpPr>
        <p:spPr/>
        <p:txBody>
          <a:bodyPr>
            <a:normAutofit lnSpcReduction="10000"/>
          </a:bodyPr>
          <a:lstStyle/>
          <a:p>
            <a:r>
              <a:rPr lang="fr-FR" b="1" dirty="0" smtClean="0"/>
              <a:t>Gérer les talents</a:t>
            </a:r>
            <a:r>
              <a:rPr lang="fr-FR" dirty="0" smtClean="0"/>
              <a:t> : Identifier et renforcer les compétences critiques pour atteindre les objectifs stratégiques.</a:t>
            </a:r>
          </a:p>
          <a:p>
            <a:r>
              <a:rPr lang="fr-FR" b="1" dirty="0" smtClean="0"/>
              <a:t>Accompagner le changement</a:t>
            </a:r>
            <a:r>
              <a:rPr lang="fr-FR" dirty="0" smtClean="0"/>
              <a:t> : Adapter les compétences face aux mutations technologiques ou organisationnelles.</a:t>
            </a:r>
          </a:p>
          <a:p>
            <a:r>
              <a:rPr lang="fr-FR" b="1" dirty="0" smtClean="0"/>
              <a:t>Créer de la valeur</a:t>
            </a:r>
            <a:r>
              <a:rPr lang="fr-FR" dirty="0" smtClean="0"/>
              <a:t> : Valoriser les savoir-faire pour améliorer la compétitivité et l’innovation.</a:t>
            </a:r>
            <a:endParaRPr lang="fr-F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t>Questions de réflexion …</a:t>
            </a:r>
            <a:endParaRPr lang="fr-FR" dirty="0"/>
          </a:p>
        </p:txBody>
      </p:sp>
      <p:sp>
        <p:nvSpPr>
          <p:cNvPr id="3" name="Espace réservé du contenu 2"/>
          <p:cNvSpPr>
            <a:spLocks noGrp="1"/>
          </p:cNvSpPr>
          <p:nvPr>
            <p:ph idx="1"/>
          </p:nvPr>
        </p:nvSpPr>
        <p:spPr>
          <a:xfrm>
            <a:off x="539552" y="1988840"/>
            <a:ext cx="8229600" cy="2692895"/>
          </a:xfrm>
        </p:spPr>
        <p:style>
          <a:lnRef idx="2">
            <a:schemeClr val="accent2"/>
          </a:lnRef>
          <a:fillRef idx="1">
            <a:schemeClr val="lt1"/>
          </a:fillRef>
          <a:effectRef idx="0">
            <a:schemeClr val="accent2"/>
          </a:effectRef>
          <a:fontRef idx="minor">
            <a:schemeClr val="dk1"/>
          </a:fontRef>
        </p:style>
        <p:txBody>
          <a:bodyPr/>
          <a:lstStyle/>
          <a:p>
            <a:pPr>
              <a:buNone/>
            </a:pPr>
            <a:r>
              <a:rPr lang="fr-FR" dirty="0" smtClean="0"/>
              <a:t>- Qu’est ce qu’un programme informatique, un algorithme  </a:t>
            </a:r>
            <a:r>
              <a:rPr lang="fr-FR" b="1" u="sng" dirty="0" smtClean="0"/>
              <a:t>performant</a:t>
            </a:r>
            <a:r>
              <a:rPr lang="fr-FR" dirty="0" smtClean="0"/>
              <a:t> ?</a:t>
            </a:r>
          </a:p>
          <a:p>
            <a:pPr>
              <a:buNone/>
            </a:pPr>
            <a:r>
              <a:rPr lang="fr-FR" dirty="0" smtClean="0"/>
              <a:t>- Comment </a:t>
            </a:r>
            <a:r>
              <a:rPr lang="fr-FR" b="1" u="sng" dirty="0" smtClean="0"/>
              <a:t>améliore-t-on les performances </a:t>
            </a:r>
            <a:r>
              <a:rPr lang="fr-FR" dirty="0" smtClean="0"/>
              <a:t>d’un programme informatique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Capital Humain et Optimisation</a:t>
            </a:r>
            <a:endParaRPr lang="fr-FR" dirty="0"/>
          </a:p>
        </p:txBody>
      </p:sp>
      <p:sp>
        <p:nvSpPr>
          <p:cNvPr id="3" name="Espace réservé du contenu 2"/>
          <p:cNvSpPr>
            <a:spLocks noGrp="1"/>
          </p:cNvSpPr>
          <p:nvPr>
            <p:ph idx="1"/>
          </p:nvPr>
        </p:nvSpPr>
        <p:spPr>
          <a:xfrm>
            <a:off x="457200" y="1600201"/>
            <a:ext cx="8075240" cy="2404864"/>
          </a:xfrm>
        </p:spPr>
        <p:style>
          <a:lnRef idx="2">
            <a:schemeClr val="accent2"/>
          </a:lnRef>
          <a:fillRef idx="1">
            <a:schemeClr val="lt1"/>
          </a:fillRef>
          <a:effectRef idx="0">
            <a:schemeClr val="accent2"/>
          </a:effectRef>
          <a:fontRef idx="minor">
            <a:schemeClr val="dk1"/>
          </a:fontRef>
        </p:style>
        <p:txBody>
          <a:bodyPr/>
          <a:lstStyle/>
          <a:p>
            <a:pPr>
              <a:buNone/>
            </a:pPr>
            <a:r>
              <a:rPr lang="fr-FR" dirty="0" smtClean="0"/>
              <a:t>- Qu’est ce qu’un </a:t>
            </a:r>
            <a:r>
              <a:rPr lang="fr-FR" b="1" dirty="0" smtClean="0"/>
              <a:t>employé performant </a:t>
            </a:r>
            <a:r>
              <a:rPr lang="fr-FR" dirty="0" smtClean="0"/>
              <a:t>?</a:t>
            </a:r>
          </a:p>
          <a:p>
            <a:pPr>
              <a:buNone/>
            </a:pPr>
            <a:r>
              <a:rPr lang="fr-FR" dirty="0" smtClean="0"/>
              <a:t>- Comment </a:t>
            </a:r>
            <a:r>
              <a:rPr lang="fr-FR" b="1" u="sng" dirty="0" smtClean="0"/>
              <a:t>développe-t-on les performances d’une organisation</a:t>
            </a:r>
            <a:r>
              <a:rPr lang="fr-FR" dirty="0" smtClean="0"/>
              <a:t> ?</a:t>
            </a:r>
          </a:p>
          <a:p>
            <a:endParaRPr lang="fr-FR" dirty="0" smtClean="0"/>
          </a:p>
          <a:p>
            <a:endParaRPr lang="fr-FR" dirty="0" smtClean="0"/>
          </a:p>
          <a:p>
            <a:endParaRPr lang="fr-F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Capital humain </a:t>
            </a:r>
            <a:endParaRPr lang="fr-FR" dirty="0"/>
          </a:p>
        </p:txBody>
      </p:sp>
      <p:sp>
        <p:nvSpPr>
          <p:cNvPr id="3" name="Espace réservé du contenu 2"/>
          <p:cNvSpPr>
            <a:spLocks noGrp="1"/>
          </p:cNvSpPr>
          <p:nvPr>
            <p:ph idx="1"/>
          </p:nvPr>
        </p:nvSpPr>
        <p:spPr>
          <a:xfrm>
            <a:off x="457200" y="1600201"/>
            <a:ext cx="8229600" cy="2764904"/>
          </a:xfrm>
        </p:spPr>
        <p:style>
          <a:lnRef idx="2">
            <a:schemeClr val="accent2"/>
          </a:lnRef>
          <a:fillRef idx="1">
            <a:schemeClr val="lt1"/>
          </a:fillRef>
          <a:effectRef idx="0">
            <a:schemeClr val="accent2"/>
          </a:effectRef>
          <a:fontRef idx="minor">
            <a:schemeClr val="dk1"/>
          </a:fontRef>
        </p:style>
        <p:txBody>
          <a:bodyPr/>
          <a:lstStyle/>
          <a:p>
            <a:r>
              <a:rPr lang="fr-FR" dirty="0" smtClean="0"/>
              <a:t>Le capital humain désigne l’ensemble des compétences, connaissances, talents, expériences et attributs personnels d’un individu qui contribuent à sa productivité économique.</a:t>
            </a:r>
            <a:endParaRPr lang="fr-F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L'Optimisation d'un Projet</a:t>
            </a:r>
            <a:br>
              <a:rPr lang="fr-FR" b="1" dirty="0" smtClean="0"/>
            </a:br>
            <a:endParaRPr lang="fr-FR" dirty="0"/>
          </a:p>
        </p:txBody>
      </p:sp>
      <p:sp>
        <p:nvSpPr>
          <p:cNvPr id="3" name="Espace réservé du contenu 2"/>
          <p:cNvSpPr>
            <a:spLocks noGrp="1"/>
          </p:cNvSpPr>
          <p:nvPr>
            <p:ph idx="1"/>
          </p:nvPr>
        </p:nvSpPr>
        <p:spPr>
          <a:xfrm>
            <a:off x="457200" y="1600201"/>
            <a:ext cx="8291264" cy="2332856"/>
          </a:xfrm>
        </p:spPr>
        <p:style>
          <a:lnRef idx="2">
            <a:schemeClr val="accent2"/>
          </a:lnRef>
          <a:fillRef idx="1">
            <a:schemeClr val="lt1"/>
          </a:fillRef>
          <a:effectRef idx="0">
            <a:schemeClr val="accent2"/>
          </a:effectRef>
          <a:fontRef idx="minor">
            <a:schemeClr val="dk1"/>
          </a:fontRef>
        </p:style>
        <p:txBody>
          <a:bodyPr/>
          <a:lstStyle/>
          <a:p>
            <a:r>
              <a:rPr lang="fr-FR" dirty="0" smtClean="0"/>
              <a:t>Quelles compétences techniques et comportementales sont nécessaires pour un projet informatique réussi ?</a:t>
            </a:r>
          </a:p>
          <a:p>
            <a:endParaRPr lang="fr-F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smtClean="0"/>
              <a:t>L’ingénierie des Compétences et de la Formation : </a:t>
            </a:r>
            <a:r>
              <a:rPr lang="fr-FR" sz="2800" b="1" dirty="0" smtClean="0"/>
              <a:t>Développer le Capital Humain</a:t>
            </a:r>
            <a:endParaRPr lang="fr-FR" sz="2800" b="1" dirty="0"/>
          </a:p>
        </p:txBody>
      </p:sp>
      <p:sp>
        <p:nvSpPr>
          <p:cNvPr id="3" name="Espace réservé du contenu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r>
              <a:rPr lang="fr-FR" dirty="0" smtClean="0"/>
              <a:t>L’ingénierie des compétences permet de </a:t>
            </a:r>
            <a:r>
              <a:rPr lang="fr-FR" b="1" dirty="0" smtClean="0"/>
              <a:t>planifier, structurer et développer les talents nécessaires à la performance d’une organisation.</a:t>
            </a:r>
          </a:p>
          <a:p>
            <a:r>
              <a:rPr lang="fr-FR" dirty="0" smtClean="0"/>
              <a:t>Tout comme un algorithme bien conçu, une organisation avec un capital humain optimisé est plus efficace et compétitive.</a:t>
            </a:r>
            <a:endParaRPr lang="fr-F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Origine du Concept de Capital Humain</a:t>
            </a:r>
            <a:br>
              <a:rPr lang="fr-FR" b="1" dirty="0" smtClean="0"/>
            </a:br>
            <a:endParaRPr lang="fr-FR" dirty="0"/>
          </a:p>
        </p:txBody>
      </p:sp>
      <p:sp>
        <p:nvSpPr>
          <p:cNvPr id="3" name="Espace réservé du contenu 2"/>
          <p:cNvSpPr>
            <a:spLocks noGrp="1"/>
          </p:cNvSpPr>
          <p:nvPr>
            <p:ph idx="1"/>
          </p:nvPr>
        </p:nvSpPr>
        <p:spPr>
          <a:xfrm>
            <a:off x="457200" y="980728"/>
            <a:ext cx="8229600" cy="5472608"/>
          </a:xfrm>
        </p:spPr>
        <p:style>
          <a:lnRef idx="2">
            <a:schemeClr val="accent2"/>
          </a:lnRef>
          <a:fillRef idx="1">
            <a:schemeClr val="lt1"/>
          </a:fillRef>
          <a:effectRef idx="0">
            <a:schemeClr val="accent2"/>
          </a:effectRef>
          <a:fontRef idx="minor">
            <a:schemeClr val="dk1"/>
          </a:fontRef>
        </p:style>
        <p:txBody>
          <a:bodyPr>
            <a:normAutofit fontScale="85000" lnSpcReduction="10000"/>
          </a:bodyPr>
          <a:lstStyle/>
          <a:p>
            <a:pPr>
              <a:buNone/>
            </a:pPr>
            <a:endParaRPr lang="fr-FR" dirty="0" smtClean="0"/>
          </a:p>
          <a:p>
            <a:r>
              <a:rPr lang="fr-FR" b="1" dirty="0" smtClean="0"/>
              <a:t>Définition du Capital Humain :</a:t>
            </a:r>
            <a:endParaRPr lang="fr-FR" dirty="0" smtClean="0"/>
          </a:p>
          <a:p>
            <a:pPr lvl="1"/>
            <a:r>
              <a:rPr lang="fr-FR" dirty="0" smtClean="0"/>
              <a:t>Le capital humain désigne </a:t>
            </a:r>
            <a:r>
              <a:rPr lang="fr-FR" b="1" dirty="0" smtClean="0">
                <a:solidFill>
                  <a:srgbClr val="FF0000"/>
                </a:solidFill>
              </a:rPr>
              <a:t>l’ensemble des compétences, savoirs, et talents </a:t>
            </a:r>
            <a:r>
              <a:rPr lang="fr-FR" dirty="0" smtClean="0"/>
              <a:t>d’un individu qui peuvent être utilisés pour produire de la valeur économique.</a:t>
            </a:r>
          </a:p>
          <a:p>
            <a:r>
              <a:rPr lang="fr-FR" b="1" dirty="0" smtClean="0"/>
              <a:t>Apparition du Concept :</a:t>
            </a:r>
            <a:endParaRPr lang="fr-FR" dirty="0" smtClean="0"/>
          </a:p>
          <a:p>
            <a:pPr lvl="1"/>
            <a:r>
              <a:rPr lang="fr-FR" dirty="0" smtClean="0"/>
              <a:t>L'idée de capital humain remonte au XVIIIe siècle, mais elle a été formalisée au XXe siècle.</a:t>
            </a:r>
          </a:p>
          <a:p>
            <a:pPr lvl="1"/>
            <a:r>
              <a:rPr lang="fr-FR" b="1" dirty="0" smtClean="0">
                <a:solidFill>
                  <a:srgbClr val="FF0000"/>
                </a:solidFill>
              </a:rPr>
              <a:t>Adam Smith </a:t>
            </a:r>
            <a:r>
              <a:rPr lang="fr-FR" b="1" dirty="0" smtClean="0"/>
              <a:t>(1776)</a:t>
            </a:r>
            <a:r>
              <a:rPr lang="fr-FR" dirty="0" smtClean="0"/>
              <a:t> : A reconnu que </a:t>
            </a:r>
            <a:r>
              <a:rPr lang="fr-FR" u="sng" dirty="0" smtClean="0"/>
              <a:t>l’éducation, les compétences et la formation des travailleurs </a:t>
            </a:r>
            <a:r>
              <a:rPr lang="fr-FR" dirty="0" smtClean="0"/>
              <a:t>sont des sources importantes de richesse.</a:t>
            </a:r>
          </a:p>
          <a:p>
            <a:pPr lvl="1"/>
            <a:r>
              <a:rPr lang="fr-FR" b="1" dirty="0" smtClean="0"/>
              <a:t>Alfred Marshall (1890)</a:t>
            </a:r>
            <a:r>
              <a:rPr lang="fr-FR" dirty="0" smtClean="0"/>
              <a:t> : A mis en lumière </a:t>
            </a:r>
            <a:r>
              <a:rPr lang="fr-FR" b="1" dirty="0" smtClean="0"/>
              <a:t>l’importance des compétences </a:t>
            </a:r>
            <a:r>
              <a:rPr lang="fr-FR" dirty="0" smtClean="0"/>
              <a:t>et du savoir dans l’économie moderne.</a:t>
            </a:r>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i="1" dirty="0" smtClean="0"/>
              <a:t>Les Théoriciens du Capital Humain</a:t>
            </a:r>
            <a:r>
              <a:rPr lang="fr-FR" dirty="0" smtClean="0"/>
              <a:t/>
            </a:r>
            <a:br>
              <a:rPr lang="fr-FR" dirty="0" smtClean="0"/>
            </a:br>
            <a:endParaRPr lang="fr-FR" dirty="0"/>
          </a:p>
        </p:txBody>
      </p:sp>
      <p:sp>
        <p:nvSpPr>
          <p:cNvPr id="3" name="Espace réservé du contenu 2"/>
          <p:cNvSpPr>
            <a:spLocks noGrp="1"/>
          </p:cNvSpPr>
          <p:nvPr>
            <p:ph idx="1"/>
          </p:nvPr>
        </p:nvSpPr>
        <p:spPr>
          <a:xfrm>
            <a:off x="457200" y="1052736"/>
            <a:ext cx="8229600" cy="5400599"/>
          </a:xfrm>
        </p:spPr>
        <p:style>
          <a:lnRef idx="2">
            <a:schemeClr val="accent2"/>
          </a:lnRef>
          <a:fillRef idx="1">
            <a:schemeClr val="lt1"/>
          </a:fillRef>
          <a:effectRef idx="0">
            <a:schemeClr val="accent2"/>
          </a:effectRef>
          <a:fontRef idx="minor">
            <a:schemeClr val="dk1"/>
          </a:fontRef>
        </p:style>
        <p:txBody>
          <a:bodyPr>
            <a:noAutofit/>
          </a:bodyPr>
          <a:lstStyle/>
          <a:p>
            <a:pPr>
              <a:lnSpc>
                <a:spcPct val="170000"/>
              </a:lnSpc>
            </a:pPr>
            <a:r>
              <a:rPr lang="fr-FR" sz="2400" b="1" dirty="0" smtClean="0">
                <a:solidFill>
                  <a:srgbClr val="FF0000"/>
                </a:solidFill>
              </a:rPr>
              <a:t>Gary Becker (1930-2014</a:t>
            </a:r>
            <a:r>
              <a:rPr lang="fr-FR" sz="1800" b="1" dirty="0" smtClean="0">
                <a:solidFill>
                  <a:srgbClr val="FF0000"/>
                </a:solidFill>
              </a:rPr>
              <a:t>) </a:t>
            </a:r>
            <a:r>
              <a:rPr lang="fr-FR" sz="1800" b="1" dirty="0" smtClean="0"/>
              <a:t>:</a:t>
            </a:r>
          </a:p>
          <a:p>
            <a:pPr lvl="1"/>
            <a:r>
              <a:rPr lang="fr-FR" sz="1800" b="1" dirty="0" smtClean="0"/>
              <a:t>Prix Nobel d’Économie (1992) pour ses travaux sur le capital humain.</a:t>
            </a:r>
          </a:p>
          <a:p>
            <a:pPr lvl="1"/>
            <a:r>
              <a:rPr lang="fr-FR" sz="1800" b="1" dirty="0" smtClean="0"/>
              <a:t>A popularisé l’idée que </a:t>
            </a:r>
            <a:r>
              <a:rPr lang="fr-FR" sz="1800" b="1" dirty="0" smtClean="0">
                <a:solidFill>
                  <a:srgbClr val="FF0000"/>
                </a:solidFill>
              </a:rPr>
              <a:t>l’éducation et la formation </a:t>
            </a:r>
            <a:r>
              <a:rPr lang="fr-FR" sz="1800" b="1" dirty="0" smtClean="0"/>
              <a:t>sont des investissements rentables, comparables à l'investissement en capital physique.</a:t>
            </a:r>
          </a:p>
          <a:p>
            <a:pPr lvl="1"/>
            <a:r>
              <a:rPr lang="fr-FR" sz="1800" b="1" dirty="0" smtClean="0"/>
              <a:t>Ouvrage clé : </a:t>
            </a:r>
            <a:r>
              <a:rPr lang="fr-FR" sz="1800" b="1" i="1" dirty="0" err="1" smtClean="0"/>
              <a:t>Human</a:t>
            </a:r>
            <a:r>
              <a:rPr lang="fr-FR" sz="1800" b="1" i="1" dirty="0" smtClean="0"/>
              <a:t> Capital: A </a:t>
            </a:r>
            <a:r>
              <a:rPr lang="fr-FR" sz="1800" b="1" i="1" dirty="0" err="1" smtClean="0"/>
              <a:t>Theoretical</a:t>
            </a:r>
            <a:r>
              <a:rPr lang="fr-FR" sz="1800" b="1" i="1" dirty="0" smtClean="0"/>
              <a:t> and </a:t>
            </a:r>
            <a:r>
              <a:rPr lang="fr-FR" sz="1800" b="1" i="1" dirty="0" err="1" smtClean="0"/>
              <a:t>Empirical</a:t>
            </a:r>
            <a:r>
              <a:rPr lang="fr-FR" sz="1800" b="1" i="1" dirty="0" smtClean="0"/>
              <a:t> </a:t>
            </a:r>
            <a:r>
              <a:rPr lang="fr-FR" sz="1800" b="1" i="1" dirty="0" err="1" smtClean="0"/>
              <a:t>Analysis</a:t>
            </a:r>
            <a:r>
              <a:rPr lang="fr-FR" sz="1800" b="1" dirty="0" smtClean="0"/>
              <a:t> (1964).</a:t>
            </a:r>
            <a:endParaRPr lang="fr-FR" sz="1800" b="1" smtClean="0"/>
          </a:p>
          <a:p>
            <a:pPr lvl="1">
              <a:buNone/>
            </a:pPr>
            <a:endParaRPr lang="fr-FR" sz="1800" b="1" dirty="0" smtClean="0"/>
          </a:p>
          <a:p>
            <a:r>
              <a:rPr lang="fr-FR" sz="1800" b="1" dirty="0" smtClean="0"/>
              <a:t>Theodore </a:t>
            </a:r>
            <a:r>
              <a:rPr lang="fr-FR" sz="1800" b="1" dirty="0" err="1" smtClean="0"/>
              <a:t>Schultz</a:t>
            </a:r>
            <a:r>
              <a:rPr lang="fr-FR" sz="1800" b="1" dirty="0" smtClean="0"/>
              <a:t> (1902-1998) :</a:t>
            </a:r>
          </a:p>
          <a:p>
            <a:pPr lvl="1"/>
            <a:r>
              <a:rPr lang="fr-FR" sz="1800" b="1" dirty="0" smtClean="0"/>
              <a:t>A développé le concept de capital humain en tant que facteur clé de la productivité.</a:t>
            </a:r>
          </a:p>
          <a:p>
            <a:pPr lvl="1"/>
            <a:r>
              <a:rPr lang="fr-FR" sz="1800" b="1" dirty="0" smtClean="0"/>
              <a:t>S'est intéressé à la façon dont l’éducation et la santé contribuent à la croissance économique.</a:t>
            </a:r>
          </a:p>
          <a:p>
            <a:pPr lvl="1"/>
            <a:r>
              <a:rPr lang="fr-FR" sz="1800" b="1" dirty="0" smtClean="0"/>
              <a:t>Ouvrage clé : </a:t>
            </a:r>
            <a:r>
              <a:rPr lang="fr-FR" sz="1800" b="1" i="1" dirty="0" err="1" smtClean="0"/>
              <a:t>Investment</a:t>
            </a:r>
            <a:r>
              <a:rPr lang="fr-FR" sz="1800" b="1" i="1" dirty="0" smtClean="0"/>
              <a:t> in </a:t>
            </a:r>
            <a:r>
              <a:rPr lang="fr-FR" sz="1800" b="1" i="1" dirty="0" err="1" smtClean="0"/>
              <a:t>Human</a:t>
            </a:r>
            <a:r>
              <a:rPr lang="fr-FR" sz="1800" b="1" i="1" dirty="0" smtClean="0"/>
              <a:t> Capital</a:t>
            </a:r>
            <a:r>
              <a:rPr lang="fr-FR" sz="1800" b="1" dirty="0" smtClean="0"/>
              <a:t> (1961).</a:t>
            </a:r>
          </a:p>
          <a:p>
            <a:pPr>
              <a:lnSpc>
                <a:spcPct val="170000"/>
              </a:lnSpc>
            </a:pPr>
            <a:r>
              <a:rPr lang="fr-FR" sz="1800" b="1" dirty="0" smtClean="0"/>
              <a:t>…</a:t>
            </a:r>
            <a:endParaRPr lang="fr-FR" sz="1800" b="1"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Les Composantes du Capital Humain</a:t>
            </a:r>
            <a:br>
              <a:rPr lang="fr-FR" b="1" dirty="0" smtClean="0"/>
            </a:br>
            <a:endParaRPr lang="fr-FR" dirty="0"/>
          </a:p>
        </p:txBody>
      </p:sp>
      <p:sp>
        <p:nvSpPr>
          <p:cNvPr id="3" name="Espace réservé du contenu 2"/>
          <p:cNvSpPr>
            <a:spLocks noGrp="1"/>
          </p:cNvSpPr>
          <p:nvPr>
            <p:ph idx="1"/>
          </p:nvPr>
        </p:nvSpPr>
        <p:spPr>
          <a:xfrm>
            <a:off x="467544" y="2132856"/>
            <a:ext cx="8229600" cy="2620888"/>
          </a:xfrm>
        </p:spPr>
        <p:style>
          <a:lnRef idx="2">
            <a:schemeClr val="accent2"/>
          </a:lnRef>
          <a:fillRef idx="1">
            <a:schemeClr val="lt1"/>
          </a:fillRef>
          <a:effectRef idx="0">
            <a:schemeClr val="accent2"/>
          </a:effectRef>
          <a:fontRef idx="minor">
            <a:schemeClr val="dk1"/>
          </a:fontRef>
        </p:style>
        <p:txBody>
          <a:bodyPr/>
          <a:lstStyle/>
          <a:p>
            <a:r>
              <a:rPr lang="fr-FR" b="1" dirty="0" smtClean="0"/>
              <a:t>Compétences techniques.</a:t>
            </a:r>
          </a:p>
          <a:p>
            <a:r>
              <a:rPr lang="fr-FR" b="1" dirty="0" smtClean="0"/>
              <a:t>Compétences comportementales (soft </a:t>
            </a:r>
            <a:r>
              <a:rPr lang="fr-FR" b="1" dirty="0" err="1" smtClean="0"/>
              <a:t>skills</a:t>
            </a:r>
            <a:r>
              <a:rPr lang="fr-FR" b="1" dirty="0" smtClean="0"/>
              <a:t>).</a:t>
            </a:r>
          </a:p>
          <a:p>
            <a:r>
              <a:rPr lang="fr-FR" b="1" dirty="0" smtClean="0"/>
              <a:t>Connaissances académiques et professionnelles.</a:t>
            </a:r>
          </a:p>
          <a:p>
            <a:endParaRPr lang="fr-FR"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L’ingénierie des compétences : </a:t>
            </a:r>
            <a:r>
              <a:rPr lang="fr-FR" sz="3600" dirty="0" smtClean="0"/>
              <a:t>Une démarche au cœur des pratiques RH </a:t>
            </a:r>
            <a:endParaRPr lang="fr-FR" dirty="0"/>
          </a:p>
        </p:txBody>
      </p:sp>
      <p:sp>
        <p:nvSpPr>
          <p:cNvPr id="3" name="Espace réservé du contenu 2"/>
          <p:cNvSpPr>
            <a:spLocks noGrp="1"/>
          </p:cNvSpPr>
          <p:nvPr>
            <p:ph idx="1"/>
          </p:nvPr>
        </p:nvSpPr>
        <p:spPr/>
        <p:txBody>
          <a:bodyPr/>
          <a:lstStyle/>
          <a:p>
            <a:pPr>
              <a:buNone/>
            </a:pPr>
            <a:endParaRPr lang="fr-FR" b="1" dirty="0" smtClean="0"/>
          </a:p>
          <a:p>
            <a:r>
              <a:rPr lang="fr-FR" dirty="0" smtClean="0"/>
              <a:t>La démarche repose sur l’évaluation des compétences actuelles.</a:t>
            </a:r>
          </a:p>
          <a:p>
            <a:r>
              <a:rPr lang="fr-FR" dirty="0" smtClean="0"/>
              <a:t>Intègre des outils comme la GPEC (Gestion Prévisionnelle des Emplois et des Compétences).</a:t>
            </a:r>
          </a:p>
          <a:p>
            <a:r>
              <a:rPr lang="fr-FR" dirty="0" smtClean="0"/>
              <a:t>Contribue à l’élaboration de parcours de formation.</a:t>
            </a:r>
          </a:p>
          <a:p>
            <a:endParaRPr lang="fr-F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AutoShape 2" descr="Liège"/>
          <p:cNvSpPr>
            <a:spLocks noChangeArrowheads="1"/>
          </p:cNvSpPr>
          <p:nvPr/>
        </p:nvSpPr>
        <p:spPr bwMode="auto">
          <a:xfrm>
            <a:off x="269875" y="206375"/>
            <a:ext cx="8677275" cy="1191816"/>
          </a:xfrm>
          <a:prstGeom prst="roundRect">
            <a:avLst>
              <a:gd name="adj" fmla="val 16667"/>
            </a:avLst>
          </a:prstGeom>
          <a:solidFill>
            <a:schemeClr val="tx2">
              <a:lumMod val="20000"/>
              <a:lumOff val="80000"/>
            </a:schemeClr>
          </a:solidFill>
          <a:ln w="9525">
            <a:solidFill>
              <a:schemeClr val="tx1"/>
            </a:solidFill>
            <a:round/>
            <a:headEnd/>
            <a:tailEnd/>
          </a:ln>
          <a:effectLst>
            <a:prstShdw prst="shdw13" dist="53882" dir="13500000">
              <a:schemeClr val="bg2">
                <a:alpha val="50000"/>
              </a:schemeClr>
            </a:prstShdw>
          </a:effectLst>
        </p:spPr>
        <p:txBody>
          <a:bodyPr>
            <a:spAutoFit/>
          </a:bodyPr>
          <a:lstStyle/>
          <a:p>
            <a:pPr algn="ctr">
              <a:spcBef>
                <a:spcPct val="50000"/>
              </a:spcBef>
            </a:pPr>
            <a:r>
              <a:rPr lang="fr-FR" sz="3200" b="1" dirty="0">
                <a:solidFill>
                  <a:schemeClr val="tx2"/>
                </a:solidFill>
              </a:rPr>
              <a:t>Le sens d’une politique de Gestion des Ressources Humaines</a:t>
            </a:r>
          </a:p>
        </p:txBody>
      </p:sp>
      <p:sp>
        <p:nvSpPr>
          <p:cNvPr id="58371" name="AutoShape 3"/>
          <p:cNvSpPr>
            <a:spLocks noChangeArrowheads="1"/>
          </p:cNvSpPr>
          <p:nvPr/>
        </p:nvSpPr>
        <p:spPr bwMode="auto">
          <a:xfrm>
            <a:off x="1476375" y="1628775"/>
            <a:ext cx="6408738" cy="689372"/>
          </a:xfrm>
          <a:prstGeom prst="downArrowCallout">
            <a:avLst>
              <a:gd name="adj1" fmla="val 246760"/>
              <a:gd name="adj2" fmla="val 246760"/>
              <a:gd name="adj3" fmla="val 16667"/>
              <a:gd name="adj4" fmla="val 66667"/>
            </a:avLst>
          </a:prstGeom>
          <a:solidFill>
            <a:schemeClr val="accent1">
              <a:lumMod val="20000"/>
              <a:lumOff val="80000"/>
            </a:schemeClr>
          </a:solidFill>
          <a:ln w="9525">
            <a:solidFill>
              <a:srgbClr val="FF9900"/>
            </a:solidFill>
            <a:miter lim="800000"/>
            <a:headEnd/>
            <a:tailEnd/>
          </a:ln>
        </p:spPr>
        <p:txBody>
          <a:bodyPr>
            <a:spAutoFit/>
          </a:bodyPr>
          <a:lstStyle/>
          <a:p>
            <a:pPr algn="ctr">
              <a:spcBef>
                <a:spcPct val="50000"/>
              </a:spcBef>
            </a:pPr>
            <a:r>
              <a:rPr lang="fr-FR" sz="2400" b="1">
                <a:solidFill>
                  <a:schemeClr val="tx2"/>
                </a:solidFill>
              </a:rPr>
              <a:t>Objectifs stratégiques de l’organisation</a:t>
            </a:r>
          </a:p>
        </p:txBody>
      </p:sp>
      <p:sp>
        <p:nvSpPr>
          <p:cNvPr id="9220" name="Text Box 4"/>
          <p:cNvSpPr txBox="1">
            <a:spLocks noChangeArrowheads="1"/>
          </p:cNvSpPr>
          <p:nvPr/>
        </p:nvSpPr>
        <p:spPr bwMode="auto">
          <a:xfrm>
            <a:off x="1619250" y="4005263"/>
            <a:ext cx="1079500" cy="366712"/>
          </a:xfrm>
          <a:prstGeom prst="rect">
            <a:avLst/>
          </a:prstGeom>
          <a:noFill/>
          <a:ln w="9525">
            <a:noFill/>
            <a:miter lim="800000"/>
            <a:headEnd/>
            <a:tailEnd/>
          </a:ln>
        </p:spPr>
        <p:txBody>
          <a:bodyPr>
            <a:spAutoFit/>
          </a:bodyPr>
          <a:lstStyle/>
          <a:p>
            <a:pPr>
              <a:spcBef>
                <a:spcPct val="50000"/>
              </a:spcBef>
            </a:pPr>
            <a:endParaRPr lang="fr-FR"/>
          </a:p>
        </p:txBody>
      </p:sp>
      <p:sp>
        <p:nvSpPr>
          <p:cNvPr id="58373" name="AutoShape 5"/>
          <p:cNvSpPr>
            <a:spLocks noChangeArrowheads="1"/>
          </p:cNvSpPr>
          <p:nvPr/>
        </p:nvSpPr>
        <p:spPr bwMode="auto">
          <a:xfrm>
            <a:off x="2230438" y="2662238"/>
            <a:ext cx="1628775" cy="588962"/>
          </a:xfrm>
          <a:prstGeom prst="can">
            <a:avLst>
              <a:gd name="adj" fmla="val 25000"/>
            </a:avLst>
          </a:prstGeom>
          <a:solidFill>
            <a:schemeClr val="folHlink"/>
          </a:solidFill>
          <a:ln w="9525">
            <a:solidFill>
              <a:schemeClr val="tx1"/>
            </a:solidFill>
            <a:round/>
            <a:headEnd/>
            <a:tailEnd/>
          </a:ln>
        </p:spPr>
        <p:txBody>
          <a:bodyPr>
            <a:spAutoFit/>
          </a:bodyPr>
          <a:lstStyle/>
          <a:p>
            <a:pPr algn="ctr">
              <a:spcBef>
                <a:spcPct val="50000"/>
              </a:spcBef>
            </a:pPr>
            <a:r>
              <a:rPr lang="fr-FR" sz="2000" b="1">
                <a:solidFill>
                  <a:srgbClr val="FFFFCC"/>
                </a:solidFill>
              </a:rPr>
              <a:t>Comment ? </a:t>
            </a:r>
          </a:p>
        </p:txBody>
      </p:sp>
      <p:sp>
        <p:nvSpPr>
          <p:cNvPr id="9222" name="Text Box 6"/>
          <p:cNvSpPr txBox="1">
            <a:spLocks noChangeArrowheads="1"/>
          </p:cNvSpPr>
          <p:nvPr/>
        </p:nvSpPr>
        <p:spPr bwMode="auto">
          <a:xfrm>
            <a:off x="2124075" y="3716338"/>
            <a:ext cx="1079500" cy="366712"/>
          </a:xfrm>
          <a:prstGeom prst="rect">
            <a:avLst/>
          </a:prstGeom>
          <a:noFill/>
          <a:ln w="9525">
            <a:noFill/>
            <a:miter lim="800000"/>
            <a:headEnd/>
            <a:tailEnd/>
          </a:ln>
        </p:spPr>
        <p:txBody>
          <a:bodyPr>
            <a:spAutoFit/>
          </a:bodyPr>
          <a:lstStyle/>
          <a:p>
            <a:pPr>
              <a:spcBef>
                <a:spcPct val="50000"/>
              </a:spcBef>
            </a:pPr>
            <a:endParaRPr lang="fr-FR"/>
          </a:p>
        </p:txBody>
      </p:sp>
      <p:sp>
        <p:nvSpPr>
          <p:cNvPr id="9223" name="Text Box 7"/>
          <p:cNvSpPr txBox="1">
            <a:spLocks noChangeArrowheads="1"/>
          </p:cNvSpPr>
          <p:nvPr/>
        </p:nvSpPr>
        <p:spPr bwMode="auto">
          <a:xfrm>
            <a:off x="2339975" y="3932238"/>
            <a:ext cx="1079500" cy="366712"/>
          </a:xfrm>
          <a:prstGeom prst="rect">
            <a:avLst/>
          </a:prstGeom>
          <a:noFill/>
          <a:ln w="9525">
            <a:noFill/>
            <a:miter lim="800000"/>
            <a:headEnd/>
            <a:tailEnd/>
          </a:ln>
        </p:spPr>
        <p:txBody>
          <a:bodyPr>
            <a:spAutoFit/>
          </a:bodyPr>
          <a:lstStyle/>
          <a:p>
            <a:pPr>
              <a:spcBef>
                <a:spcPct val="50000"/>
              </a:spcBef>
            </a:pPr>
            <a:endParaRPr lang="fr-FR"/>
          </a:p>
        </p:txBody>
      </p:sp>
      <p:sp>
        <p:nvSpPr>
          <p:cNvPr id="9224" name="Text Box 8"/>
          <p:cNvSpPr txBox="1">
            <a:spLocks noChangeArrowheads="1"/>
          </p:cNvSpPr>
          <p:nvPr/>
        </p:nvSpPr>
        <p:spPr bwMode="auto">
          <a:xfrm>
            <a:off x="2555875" y="4148138"/>
            <a:ext cx="1079500" cy="366712"/>
          </a:xfrm>
          <a:prstGeom prst="rect">
            <a:avLst/>
          </a:prstGeom>
          <a:noFill/>
          <a:ln w="9525">
            <a:noFill/>
            <a:miter lim="800000"/>
            <a:headEnd/>
            <a:tailEnd/>
          </a:ln>
        </p:spPr>
        <p:txBody>
          <a:bodyPr>
            <a:spAutoFit/>
          </a:bodyPr>
          <a:lstStyle/>
          <a:p>
            <a:pPr>
              <a:spcBef>
                <a:spcPct val="50000"/>
              </a:spcBef>
            </a:pPr>
            <a:endParaRPr lang="fr-FR"/>
          </a:p>
        </p:txBody>
      </p:sp>
      <p:sp>
        <p:nvSpPr>
          <p:cNvPr id="58377" name="AutoShape 9"/>
          <p:cNvSpPr>
            <a:spLocks noChangeArrowheads="1"/>
          </p:cNvSpPr>
          <p:nvPr/>
        </p:nvSpPr>
        <p:spPr bwMode="auto">
          <a:xfrm>
            <a:off x="788988" y="2662238"/>
            <a:ext cx="1457325" cy="588962"/>
          </a:xfrm>
          <a:prstGeom prst="can">
            <a:avLst>
              <a:gd name="adj" fmla="val 25000"/>
            </a:avLst>
          </a:prstGeom>
          <a:solidFill>
            <a:schemeClr val="folHlink"/>
          </a:solidFill>
          <a:ln w="9525">
            <a:solidFill>
              <a:schemeClr val="tx1"/>
            </a:solidFill>
            <a:round/>
            <a:headEnd/>
            <a:tailEnd/>
          </a:ln>
        </p:spPr>
        <p:txBody>
          <a:bodyPr>
            <a:spAutoFit/>
          </a:bodyPr>
          <a:lstStyle/>
          <a:p>
            <a:pPr algn="ctr">
              <a:spcBef>
                <a:spcPct val="50000"/>
              </a:spcBef>
            </a:pPr>
            <a:r>
              <a:rPr lang="fr-FR" sz="2000" b="1">
                <a:solidFill>
                  <a:srgbClr val="FFFFCC"/>
                </a:solidFill>
              </a:rPr>
              <a:t>Quoi ?</a:t>
            </a:r>
          </a:p>
        </p:txBody>
      </p:sp>
      <p:sp>
        <p:nvSpPr>
          <p:cNvPr id="58378" name="AutoShape 10"/>
          <p:cNvSpPr>
            <a:spLocks noChangeArrowheads="1"/>
          </p:cNvSpPr>
          <p:nvPr/>
        </p:nvSpPr>
        <p:spPr bwMode="auto">
          <a:xfrm>
            <a:off x="3916363" y="2662238"/>
            <a:ext cx="1539875" cy="588962"/>
          </a:xfrm>
          <a:prstGeom prst="can">
            <a:avLst>
              <a:gd name="adj" fmla="val 25000"/>
            </a:avLst>
          </a:prstGeom>
          <a:solidFill>
            <a:schemeClr val="folHlink"/>
          </a:solidFill>
          <a:ln w="9525">
            <a:solidFill>
              <a:schemeClr val="tx1"/>
            </a:solidFill>
            <a:round/>
            <a:headEnd/>
            <a:tailEnd/>
          </a:ln>
        </p:spPr>
        <p:txBody>
          <a:bodyPr>
            <a:spAutoFit/>
          </a:bodyPr>
          <a:lstStyle/>
          <a:p>
            <a:pPr algn="ctr">
              <a:spcBef>
                <a:spcPct val="50000"/>
              </a:spcBef>
            </a:pPr>
            <a:r>
              <a:rPr lang="fr-FR" sz="2000" b="1">
                <a:solidFill>
                  <a:srgbClr val="FFFFCC"/>
                </a:solidFill>
              </a:rPr>
              <a:t>Pourquoi ? </a:t>
            </a:r>
          </a:p>
        </p:txBody>
      </p:sp>
      <p:sp>
        <p:nvSpPr>
          <p:cNvPr id="58379" name="AutoShape 11"/>
          <p:cNvSpPr>
            <a:spLocks noChangeArrowheads="1"/>
          </p:cNvSpPr>
          <p:nvPr/>
        </p:nvSpPr>
        <p:spPr bwMode="auto">
          <a:xfrm>
            <a:off x="5443538" y="2662238"/>
            <a:ext cx="1395412" cy="588962"/>
          </a:xfrm>
          <a:prstGeom prst="can">
            <a:avLst>
              <a:gd name="adj" fmla="val 25000"/>
            </a:avLst>
          </a:prstGeom>
          <a:solidFill>
            <a:schemeClr val="folHlink"/>
          </a:solidFill>
          <a:ln w="9525">
            <a:solidFill>
              <a:schemeClr val="tx1"/>
            </a:solidFill>
            <a:round/>
            <a:headEnd/>
            <a:tailEnd/>
          </a:ln>
        </p:spPr>
        <p:txBody>
          <a:bodyPr>
            <a:spAutoFit/>
          </a:bodyPr>
          <a:lstStyle/>
          <a:p>
            <a:pPr algn="ctr">
              <a:spcBef>
                <a:spcPct val="50000"/>
              </a:spcBef>
            </a:pPr>
            <a:r>
              <a:rPr lang="fr-FR" sz="2000" b="1">
                <a:solidFill>
                  <a:srgbClr val="FFFFCC"/>
                </a:solidFill>
              </a:rPr>
              <a:t>Qui ? </a:t>
            </a:r>
          </a:p>
        </p:txBody>
      </p:sp>
      <p:sp>
        <p:nvSpPr>
          <p:cNvPr id="58380" name="AutoShape 12"/>
          <p:cNvSpPr>
            <a:spLocks noChangeArrowheads="1"/>
          </p:cNvSpPr>
          <p:nvPr/>
        </p:nvSpPr>
        <p:spPr bwMode="auto">
          <a:xfrm>
            <a:off x="6838950" y="2668588"/>
            <a:ext cx="1295400" cy="588962"/>
          </a:xfrm>
          <a:prstGeom prst="can">
            <a:avLst>
              <a:gd name="adj" fmla="val 25000"/>
            </a:avLst>
          </a:prstGeom>
          <a:solidFill>
            <a:schemeClr val="folHlink"/>
          </a:solidFill>
          <a:ln w="9525">
            <a:solidFill>
              <a:schemeClr val="tx1"/>
            </a:solidFill>
            <a:round/>
            <a:headEnd/>
            <a:tailEnd/>
          </a:ln>
        </p:spPr>
        <p:txBody>
          <a:bodyPr>
            <a:spAutoFit/>
          </a:bodyPr>
          <a:lstStyle/>
          <a:p>
            <a:pPr algn="ctr">
              <a:spcBef>
                <a:spcPct val="50000"/>
              </a:spcBef>
            </a:pPr>
            <a:r>
              <a:rPr lang="fr-FR" sz="2000" b="1">
                <a:solidFill>
                  <a:srgbClr val="FFFFCC"/>
                </a:solidFill>
              </a:rPr>
              <a:t>Quand ?</a:t>
            </a:r>
          </a:p>
        </p:txBody>
      </p:sp>
      <p:sp>
        <p:nvSpPr>
          <p:cNvPr id="58381" name="Text Box 13"/>
          <p:cNvSpPr txBox="1">
            <a:spLocks noChangeArrowheads="1"/>
          </p:cNvSpPr>
          <p:nvPr/>
        </p:nvSpPr>
        <p:spPr bwMode="auto">
          <a:xfrm>
            <a:off x="971550" y="3860800"/>
            <a:ext cx="7129463" cy="466725"/>
          </a:xfrm>
          <a:prstGeom prst="rect">
            <a:avLst/>
          </a:prstGeom>
          <a:solidFill>
            <a:schemeClr val="accent1">
              <a:lumMod val="20000"/>
              <a:lumOff val="80000"/>
            </a:schemeClr>
          </a:solidFill>
          <a:ln w="9525">
            <a:solidFill>
              <a:schemeClr val="tx1"/>
            </a:solidFill>
            <a:miter lim="800000"/>
            <a:headEnd/>
            <a:tailEnd/>
          </a:ln>
        </p:spPr>
        <p:txBody>
          <a:bodyPr>
            <a:spAutoFit/>
          </a:bodyPr>
          <a:lstStyle/>
          <a:p>
            <a:pPr algn="ctr">
              <a:spcBef>
                <a:spcPct val="50000"/>
              </a:spcBef>
            </a:pPr>
            <a:r>
              <a:rPr lang="fr-FR" sz="2400" b="1" dirty="0">
                <a:solidFill>
                  <a:schemeClr val="tx2"/>
                </a:solidFill>
              </a:rPr>
              <a:t>Arrêter des choix et des engagements</a:t>
            </a:r>
          </a:p>
        </p:txBody>
      </p:sp>
      <p:sp>
        <p:nvSpPr>
          <p:cNvPr id="58382" name="Text Box 14"/>
          <p:cNvSpPr txBox="1">
            <a:spLocks noChangeArrowheads="1"/>
          </p:cNvSpPr>
          <p:nvPr/>
        </p:nvSpPr>
        <p:spPr bwMode="auto">
          <a:xfrm>
            <a:off x="971550" y="4581525"/>
            <a:ext cx="7129463" cy="466725"/>
          </a:xfrm>
          <a:prstGeom prst="rect">
            <a:avLst/>
          </a:prstGeom>
          <a:solidFill>
            <a:schemeClr val="accent1">
              <a:lumMod val="20000"/>
              <a:lumOff val="80000"/>
            </a:schemeClr>
          </a:solidFill>
          <a:ln w="9525">
            <a:solidFill>
              <a:schemeClr val="tx1"/>
            </a:solidFill>
            <a:miter lim="800000"/>
            <a:headEnd/>
            <a:tailEnd/>
          </a:ln>
        </p:spPr>
        <p:txBody>
          <a:bodyPr>
            <a:spAutoFit/>
          </a:bodyPr>
          <a:lstStyle/>
          <a:p>
            <a:pPr algn="ctr">
              <a:spcBef>
                <a:spcPct val="50000"/>
              </a:spcBef>
            </a:pPr>
            <a:r>
              <a:rPr lang="fr-FR" sz="2400" b="1">
                <a:solidFill>
                  <a:schemeClr val="tx2"/>
                </a:solidFill>
              </a:rPr>
              <a:t>Décliner ces choix en actions opérationnelles</a:t>
            </a:r>
          </a:p>
        </p:txBody>
      </p:sp>
      <p:sp>
        <p:nvSpPr>
          <p:cNvPr id="58383" name="AutoShape 15" descr="Noyer"/>
          <p:cNvSpPr>
            <a:spLocks noChangeArrowheads="1"/>
          </p:cNvSpPr>
          <p:nvPr/>
        </p:nvSpPr>
        <p:spPr bwMode="auto">
          <a:xfrm>
            <a:off x="971550" y="5527675"/>
            <a:ext cx="7200900" cy="588963"/>
          </a:xfrm>
          <a:prstGeom prst="bevel">
            <a:avLst>
              <a:gd name="adj" fmla="val 12500"/>
            </a:avLst>
          </a:prstGeom>
          <a:blipFill dpi="0" rotWithShape="1">
            <a:blip r:embed="rId2" cstate="print"/>
            <a:srcRect/>
            <a:tile tx="0" ty="0" sx="100000" sy="100000" flip="none" algn="tl"/>
          </a:blipFill>
          <a:ln w="9525">
            <a:solidFill>
              <a:schemeClr val="tx1"/>
            </a:solidFill>
            <a:miter lim="800000"/>
            <a:headEnd/>
            <a:tailEnd/>
          </a:ln>
        </p:spPr>
        <p:txBody>
          <a:bodyPr>
            <a:spAutoFit/>
          </a:bodyPr>
          <a:lstStyle/>
          <a:p>
            <a:pPr algn="ctr">
              <a:spcBef>
                <a:spcPct val="50000"/>
              </a:spcBef>
            </a:pPr>
            <a:r>
              <a:rPr lang="fr-FR" sz="2400" b="1">
                <a:solidFill>
                  <a:srgbClr val="FFFFCC"/>
                </a:solidFill>
              </a:rPr>
              <a:t>SCHEMA DIRECTEUR DES RH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checkerboard(across)">
                                      <p:cBhvr>
                                        <p:cTn id="7" dur="500"/>
                                        <p:tgtEl>
                                          <p:spTgt spid="583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8371"/>
                                        </p:tgtEl>
                                        <p:attrNameLst>
                                          <p:attrName>style.visibility</p:attrName>
                                        </p:attrNameLst>
                                      </p:cBhvr>
                                      <p:to>
                                        <p:strVal val="visible"/>
                                      </p:to>
                                    </p:set>
                                    <p:animEffect transition="in" filter="box(in)">
                                      <p:cBhvr>
                                        <p:cTn id="12" dur="500"/>
                                        <p:tgtEl>
                                          <p:spTgt spid="5837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58377"/>
                                        </p:tgtEl>
                                        <p:attrNameLst>
                                          <p:attrName>style.visibility</p:attrName>
                                        </p:attrNameLst>
                                      </p:cBhvr>
                                      <p:to>
                                        <p:strVal val="visible"/>
                                      </p:to>
                                    </p:set>
                                    <p:anim calcmode="lin" valueType="num">
                                      <p:cBhvr additive="base">
                                        <p:cTn id="17" dur="500" fill="hold"/>
                                        <p:tgtEl>
                                          <p:spTgt spid="58377"/>
                                        </p:tgtEl>
                                        <p:attrNameLst>
                                          <p:attrName>ppt_x</p:attrName>
                                        </p:attrNameLst>
                                      </p:cBhvr>
                                      <p:tavLst>
                                        <p:tav tm="0">
                                          <p:val>
                                            <p:strVal val="#ppt_x"/>
                                          </p:val>
                                        </p:tav>
                                        <p:tav tm="100000">
                                          <p:val>
                                            <p:strVal val="#ppt_x"/>
                                          </p:val>
                                        </p:tav>
                                      </p:tavLst>
                                    </p:anim>
                                    <p:anim calcmode="lin" valueType="num">
                                      <p:cBhvr additive="base">
                                        <p:cTn id="18" dur="500" fill="hold"/>
                                        <p:tgtEl>
                                          <p:spTgt spid="58377"/>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58373"/>
                                        </p:tgtEl>
                                        <p:attrNameLst>
                                          <p:attrName>style.visibility</p:attrName>
                                        </p:attrNameLst>
                                      </p:cBhvr>
                                      <p:to>
                                        <p:strVal val="visible"/>
                                      </p:to>
                                    </p:set>
                                    <p:anim calcmode="lin" valueType="num">
                                      <p:cBhvr additive="base">
                                        <p:cTn id="23" dur="500" fill="hold"/>
                                        <p:tgtEl>
                                          <p:spTgt spid="58373"/>
                                        </p:tgtEl>
                                        <p:attrNameLst>
                                          <p:attrName>ppt_x</p:attrName>
                                        </p:attrNameLst>
                                      </p:cBhvr>
                                      <p:tavLst>
                                        <p:tav tm="0">
                                          <p:val>
                                            <p:strVal val="#ppt_x"/>
                                          </p:val>
                                        </p:tav>
                                        <p:tav tm="100000">
                                          <p:val>
                                            <p:strVal val="#ppt_x"/>
                                          </p:val>
                                        </p:tav>
                                      </p:tavLst>
                                    </p:anim>
                                    <p:anim calcmode="lin" valueType="num">
                                      <p:cBhvr additive="base">
                                        <p:cTn id="24" dur="500" fill="hold"/>
                                        <p:tgtEl>
                                          <p:spTgt spid="58373"/>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58378"/>
                                        </p:tgtEl>
                                        <p:attrNameLst>
                                          <p:attrName>style.visibility</p:attrName>
                                        </p:attrNameLst>
                                      </p:cBhvr>
                                      <p:to>
                                        <p:strVal val="visible"/>
                                      </p:to>
                                    </p:set>
                                    <p:anim calcmode="lin" valueType="num">
                                      <p:cBhvr additive="base">
                                        <p:cTn id="29" dur="500" fill="hold"/>
                                        <p:tgtEl>
                                          <p:spTgt spid="58378"/>
                                        </p:tgtEl>
                                        <p:attrNameLst>
                                          <p:attrName>ppt_x</p:attrName>
                                        </p:attrNameLst>
                                      </p:cBhvr>
                                      <p:tavLst>
                                        <p:tav tm="0">
                                          <p:val>
                                            <p:strVal val="#ppt_x"/>
                                          </p:val>
                                        </p:tav>
                                        <p:tav tm="100000">
                                          <p:val>
                                            <p:strVal val="#ppt_x"/>
                                          </p:val>
                                        </p:tav>
                                      </p:tavLst>
                                    </p:anim>
                                    <p:anim calcmode="lin" valueType="num">
                                      <p:cBhvr additive="base">
                                        <p:cTn id="30" dur="500" fill="hold"/>
                                        <p:tgtEl>
                                          <p:spTgt spid="58378"/>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1" fill="hold" grpId="0" nodeType="clickEffect">
                                  <p:stCondLst>
                                    <p:cond delay="0"/>
                                  </p:stCondLst>
                                  <p:childTnLst>
                                    <p:set>
                                      <p:cBhvr>
                                        <p:cTn id="34" dur="1" fill="hold">
                                          <p:stCondLst>
                                            <p:cond delay="0"/>
                                          </p:stCondLst>
                                        </p:cTn>
                                        <p:tgtEl>
                                          <p:spTgt spid="58379"/>
                                        </p:tgtEl>
                                        <p:attrNameLst>
                                          <p:attrName>style.visibility</p:attrName>
                                        </p:attrNameLst>
                                      </p:cBhvr>
                                      <p:to>
                                        <p:strVal val="visible"/>
                                      </p:to>
                                    </p:set>
                                    <p:anim calcmode="lin" valueType="num">
                                      <p:cBhvr additive="base">
                                        <p:cTn id="35" dur="500" fill="hold"/>
                                        <p:tgtEl>
                                          <p:spTgt spid="58379"/>
                                        </p:tgtEl>
                                        <p:attrNameLst>
                                          <p:attrName>ppt_x</p:attrName>
                                        </p:attrNameLst>
                                      </p:cBhvr>
                                      <p:tavLst>
                                        <p:tav tm="0">
                                          <p:val>
                                            <p:strVal val="#ppt_x"/>
                                          </p:val>
                                        </p:tav>
                                        <p:tav tm="100000">
                                          <p:val>
                                            <p:strVal val="#ppt_x"/>
                                          </p:val>
                                        </p:tav>
                                      </p:tavLst>
                                    </p:anim>
                                    <p:anim calcmode="lin" valueType="num">
                                      <p:cBhvr additive="base">
                                        <p:cTn id="36" dur="500" fill="hold"/>
                                        <p:tgtEl>
                                          <p:spTgt spid="58379"/>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58380"/>
                                        </p:tgtEl>
                                        <p:attrNameLst>
                                          <p:attrName>style.visibility</p:attrName>
                                        </p:attrNameLst>
                                      </p:cBhvr>
                                      <p:to>
                                        <p:strVal val="visible"/>
                                      </p:to>
                                    </p:set>
                                    <p:anim calcmode="lin" valueType="num">
                                      <p:cBhvr additive="base">
                                        <p:cTn id="41" dur="500" fill="hold"/>
                                        <p:tgtEl>
                                          <p:spTgt spid="58380"/>
                                        </p:tgtEl>
                                        <p:attrNameLst>
                                          <p:attrName>ppt_x</p:attrName>
                                        </p:attrNameLst>
                                      </p:cBhvr>
                                      <p:tavLst>
                                        <p:tav tm="0">
                                          <p:val>
                                            <p:strVal val="#ppt_x"/>
                                          </p:val>
                                        </p:tav>
                                        <p:tav tm="100000">
                                          <p:val>
                                            <p:strVal val="#ppt_x"/>
                                          </p:val>
                                        </p:tav>
                                      </p:tavLst>
                                    </p:anim>
                                    <p:anim calcmode="lin" valueType="num">
                                      <p:cBhvr additive="base">
                                        <p:cTn id="42" dur="500" fill="hold"/>
                                        <p:tgtEl>
                                          <p:spTgt spid="58380"/>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58381"/>
                                        </p:tgtEl>
                                        <p:attrNameLst>
                                          <p:attrName>style.visibility</p:attrName>
                                        </p:attrNameLst>
                                      </p:cBhvr>
                                      <p:to>
                                        <p:strVal val="visible"/>
                                      </p:to>
                                    </p:set>
                                    <p:anim calcmode="lin" valueType="num">
                                      <p:cBhvr additive="base">
                                        <p:cTn id="47" dur="500" fill="hold"/>
                                        <p:tgtEl>
                                          <p:spTgt spid="58381"/>
                                        </p:tgtEl>
                                        <p:attrNameLst>
                                          <p:attrName>ppt_x</p:attrName>
                                        </p:attrNameLst>
                                      </p:cBhvr>
                                      <p:tavLst>
                                        <p:tav tm="0">
                                          <p:val>
                                            <p:strVal val="0-#ppt_w/2"/>
                                          </p:val>
                                        </p:tav>
                                        <p:tav tm="100000">
                                          <p:val>
                                            <p:strVal val="#ppt_x"/>
                                          </p:val>
                                        </p:tav>
                                      </p:tavLst>
                                    </p:anim>
                                    <p:anim calcmode="lin" valueType="num">
                                      <p:cBhvr additive="base">
                                        <p:cTn id="48" dur="500" fill="hold"/>
                                        <p:tgtEl>
                                          <p:spTgt spid="58381"/>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58382"/>
                                        </p:tgtEl>
                                        <p:attrNameLst>
                                          <p:attrName>style.visibility</p:attrName>
                                        </p:attrNameLst>
                                      </p:cBhvr>
                                      <p:to>
                                        <p:strVal val="visible"/>
                                      </p:to>
                                    </p:set>
                                    <p:anim calcmode="lin" valueType="num">
                                      <p:cBhvr additive="base">
                                        <p:cTn id="53" dur="500" fill="hold"/>
                                        <p:tgtEl>
                                          <p:spTgt spid="58382"/>
                                        </p:tgtEl>
                                        <p:attrNameLst>
                                          <p:attrName>ppt_x</p:attrName>
                                        </p:attrNameLst>
                                      </p:cBhvr>
                                      <p:tavLst>
                                        <p:tav tm="0">
                                          <p:val>
                                            <p:strVal val="1+#ppt_w/2"/>
                                          </p:val>
                                        </p:tav>
                                        <p:tav tm="100000">
                                          <p:val>
                                            <p:strVal val="#ppt_x"/>
                                          </p:val>
                                        </p:tav>
                                      </p:tavLst>
                                    </p:anim>
                                    <p:anim calcmode="lin" valueType="num">
                                      <p:cBhvr additive="base">
                                        <p:cTn id="54" dur="500" fill="hold"/>
                                        <p:tgtEl>
                                          <p:spTgt spid="58382"/>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9" fill="hold" grpId="0" nodeType="clickEffect">
                                  <p:stCondLst>
                                    <p:cond delay="0"/>
                                  </p:stCondLst>
                                  <p:childTnLst>
                                    <p:set>
                                      <p:cBhvr>
                                        <p:cTn id="58" dur="1" fill="hold">
                                          <p:stCondLst>
                                            <p:cond delay="0"/>
                                          </p:stCondLst>
                                        </p:cTn>
                                        <p:tgtEl>
                                          <p:spTgt spid="58383"/>
                                        </p:tgtEl>
                                        <p:attrNameLst>
                                          <p:attrName>style.visibility</p:attrName>
                                        </p:attrNameLst>
                                      </p:cBhvr>
                                      <p:to>
                                        <p:strVal val="visible"/>
                                      </p:to>
                                    </p:set>
                                    <p:anim calcmode="lin" valueType="num">
                                      <p:cBhvr additive="base">
                                        <p:cTn id="59" dur="500" fill="hold"/>
                                        <p:tgtEl>
                                          <p:spTgt spid="58383"/>
                                        </p:tgtEl>
                                        <p:attrNameLst>
                                          <p:attrName>ppt_x</p:attrName>
                                        </p:attrNameLst>
                                      </p:cBhvr>
                                      <p:tavLst>
                                        <p:tav tm="0">
                                          <p:val>
                                            <p:strVal val="0-#ppt_w/2"/>
                                          </p:val>
                                        </p:tav>
                                        <p:tav tm="100000">
                                          <p:val>
                                            <p:strVal val="#ppt_x"/>
                                          </p:val>
                                        </p:tav>
                                      </p:tavLst>
                                    </p:anim>
                                    <p:anim calcmode="lin" valueType="num">
                                      <p:cBhvr additive="base">
                                        <p:cTn id="60" dur="500" fill="hold"/>
                                        <p:tgtEl>
                                          <p:spTgt spid="5838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nimBg="1"/>
      <p:bldP spid="58371" grpId="0" animBg="1"/>
      <p:bldP spid="58373" grpId="0" animBg="1"/>
      <p:bldP spid="58377" grpId="0" animBg="1"/>
      <p:bldP spid="58378" grpId="0" animBg="1"/>
      <p:bldP spid="58379" grpId="0" animBg="1"/>
      <p:bldP spid="58380" grpId="0" animBg="1"/>
      <p:bldP spid="58381" grpId="0" animBg="1"/>
      <p:bldP spid="58382" grpId="0" animBg="1"/>
      <p:bldP spid="5838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p:cNvPicPr>
            <a:picLocks noChangeAspect="1" noChangeArrowheads="1"/>
          </p:cNvPicPr>
          <p:nvPr/>
        </p:nvPicPr>
        <p:blipFill>
          <a:blip r:embed="rId2" cstate="print"/>
          <a:srcRect/>
          <a:stretch>
            <a:fillRect/>
          </a:stretch>
        </p:blipFill>
        <p:spPr bwMode="auto">
          <a:xfrm>
            <a:off x="0" y="579438"/>
            <a:ext cx="9144000" cy="5815012"/>
          </a:xfrm>
          <a:prstGeom prst="rect">
            <a:avLst/>
          </a:prstGeom>
          <a:solidFill>
            <a:srgbClr val="FFCCFF"/>
          </a:solidFill>
          <a:ln w="9525">
            <a:noFill/>
            <a:miter lim="800000"/>
            <a:headEnd/>
            <a:tailEnd/>
          </a:ln>
        </p:spPr>
      </p:pic>
      <p:sp>
        <p:nvSpPr>
          <p:cNvPr id="3" name="ZoneTexte 2"/>
          <p:cNvSpPr txBox="1"/>
          <p:nvPr/>
        </p:nvSpPr>
        <p:spPr>
          <a:xfrm>
            <a:off x="611560" y="116632"/>
            <a:ext cx="7056784" cy="400110"/>
          </a:xfrm>
          <a:prstGeom prst="rect">
            <a:avLst/>
          </a:prstGeom>
          <a:noFill/>
        </p:spPr>
        <p:txBody>
          <a:bodyPr wrap="square" rtlCol="0">
            <a:spAutoFit/>
          </a:bodyPr>
          <a:lstStyle/>
          <a:p>
            <a:pPr algn="ctr"/>
            <a:r>
              <a:rPr lang="fr-FR" sz="2000" b="1" dirty="0" smtClean="0"/>
              <a:t>Schéma directeur des ressources humaines </a:t>
            </a:r>
            <a:endParaRPr lang="fr-FR" sz="2000" b="1"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re 1" descr="Noyer"/>
          <p:cNvSpPr>
            <a:spLocks noGrp="1"/>
          </p:cNvSpPr>
          <p:nvPr>
            <p:ph type="title" idx="4294967295"/>
          </p:nvPr>
        </p:nvSpPr>
        <p:spPr>
          <a:xfrm>
            <a:off x="539552" y="404664"/>
            <a:ext cx="8229600" cy="1143000"/>
          </a:xfrm>
          <a:solidFill>
            <a:schemeClr val="bg2"/>
          </a:solidFill>
          <a:scene3d>
            <a:camera prst="legacyObliqueTopLeft"/>
            <a:lightRig rig="legacyFlat3" dir="t"/>
          </a:scene3d>
          <a:sp3d extrusionH="430200" prstMaterial="legacyMatte">
            <a:bevelT w="13500" h="13500" prst="angle"/>
            <a:bevelB w="13500" h="13500" prst="angle"/>
            <a:extrusionClr>
              <a:srgbClr val="663300"/>
            </a:extrusionClr>
          </a:sp3d>
        </p:spPr>
        <p:txBody>
          <a:bodyPr lIns="91440" rIns="91440" bIns="45720">
            <a:normAutofit fontScale="90000"/>
            <a:flatTx/>
          </a:bodyPr>
          <a:lstStyle/>
          <a:p>
            <a:r>
              <a:rPr lang="fr-FR" dirty="0" smtClean="0">
                <a:solidFill>
                  <a:schemeClr val="tx2"/>
                </a:solidFill>
              </a:rPr>
              <a:t>  La Gestion prévisionnelle des emplois et des compétences (GPEC)</a:t>
            </a:r>
          </a:p>
        </p:txBody>
      </p:sp>
      <p:sp>
        <p:nvSpPr>
          <p:cNvPr id="64515" name="Espace réservé du contenu 2"/>
          <p:cNvSpPr>
            <a:spLocks noGrp="1"/>
          </p:cNvSpPr>
          <p:nvPr>
            <p:ph idx="4294967295"/>
          </p:nvPr>
        </p:nvSpPr>
        <p:spPr>
          <a:xfrm>
            <a:off x="467544" y="1772816"/>
            <a:ext cx="8291513" cy="4740275"/>
          </a:xfrm>
          <a:prstGeom prst="roundRect">
            <a:avLst>
              <a:gd name="adj" fmla="val 16667"/>
            </a:avLst>
          </a:prstGeom>
          <a:solidFill>
            <a:schemeClr val="accent1">
              <a:lumMod val="20000"/>
              <a:lumOff val="80000"/>
            </a:schemeClr>
          </a:solidFill>
        </p:spPr>
        <p:txBody>
          <a:bodyPr>
            <a:normAutofit lnSpcReduction="10000"/>
          </a:bodyPr>
          <a:lstStyle/>
          <a:p>
            <a:pPr>
              <a:buFontTx/>
              <a:buNone/>
            </a:pPr>
            <a:r>
              <a:rPr lang="fr-FR" dirty="0" smtClean="0"/>
              <a:t>   La GPEC consisterait à analyser les ressources humaines actuels et les besoins futurs en emploi et en compétences, les comparer puis gérer de façon anticipée l’écart entre les deux, cela en tenant compte des progrès technologiques et contraintes économiques et en ayant recours à un ensemble de méthodes et techniques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additive="base">
                                        <p:cTn id="7" dur="500" fill="hold"/>
                                        <p:tgtEl>
                                          <p:spTgt spid="64514"/>
                                        </p:tgtEl>
                                        <p:attrNameLst>
                                          <p:attrName>ppt_x</p:attrName>
                                        </p:attrNameLst>
                                      </p:cBhvr>
                                      <p:tavLst>
                                        <p:tav tm="0">
                                          <p:val>
                                            <p:strVal val="0-#ppt_w/2"/>
                                          </p:val>
                                        </p:tav>
                                        <p:tav tm="100000">
                                          <p:val>
                                            <p:strVal val="#ppt_x"/>
                                          </p:val>
                                        </p:tav>
                                      </p:tavLst>
                                    </p:anim>
                                    <p:anim calcmode="lin" valueType="num">
                                      <p:cBhvr additive="base">
                                        <p:cTn id="8" dur="500" fill="hold"/>
                                        <p:tgtEl>
                                          <p:spTgt spid="645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4515"/>
                                        </p:tgtEl>
                                        <p:attrNameLst>
                                          <p:attrName>style.visibility</p:attrName>
                                        </p:attrNameLst>
                                      </p:cBhvr>
                                      <p:to>
                                        <p:strVal val="visible"/>
                                      </p:to>
                                    </p:set>
                                    <p:anim calcmode="lin" valueType="num">
                                      <p:cBhvr additive="base">
                                        <p:cTn id="13" dur="500" fill="hold"/>
                                        <p:tgtEl>
                                          <p:spTgt spid="64515"/>
                                        </p:tgtEl>
                                        <p:attrNameLst>
                                          <p:attrName>ppt_x</p:attrName>
                                        </p:attrNameLst>
                                      </p:cBhvr>
                                      <p:tavLst>
                                        <p:tav tm="0">
                                          <p:val>
                                            <p:strVal val="1+#ppt_w/2"/>
                                          </p:val>
                                        </p:tav>
                                        <p:tav tm="100000">
                                          <p:val>
                                            <p:strVal val="#ppt_x"/>
                                          </p:val>
                                        </p:tav>
                                      </p:tavLst>
                                    </p:anim>
                                    <p:anim calcmode="lin" valueType="num">
                                      <p:cBhvr additive="base">
                                        <p:cTn id="14" dur="500" fill="hold"/>
                                        <p:tgtEl>
                                          <p:spTgt spid="645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nimBg="1"/>
      <p:bldP spid="645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Étapes clés d’une démarche d’ingénierie des compétences </a:t>
            </a:r>
            <a:endParaRPr lang="fr-FR" dirty="0"/>
          </a:p>
        </p:txBody>
      </p:sp>
      <p:sp>
        <p:nvSpPr>
          <p:cNvPr id="3" name="Espace réservé du contenu 2"/>
          <p:cNvSpPr>
            <a:spLocks noGrp="1"/>
          </p:cNvSpPr>
          <p:nvPr>
            <p:ph idx="1"/>
          </p:nvPr>
        </p:nvSpPr>
        <p:spPr/>
        <p:txBody>
          <a:bodyPr/>
          <a:lstStyle/>
          <a:p>
            <a:pPr>
              <a:buNone/>
            </a:pPr>
            <a:endParaRPr lang="fr-FR" b="1" dirty="0" smtClean="0"/>
          </a:p>
          <a:p>
            <a:r>
              <a:rPr lang="fr-FR" dirty="0" smtClean="0"/>
              <a:t>Analyse des besoins en compétences.</a:t>
            </a:r>
          </a:p>
          <a:p>
            <a:r>
              <a:rPr lang="fr-FR" dirty="0" smtClean="0"/>
              <a:t>Identification des écarts (gap </a:t>
            </a:r>
            <a:r>
              <a:rPr lang="fr-FR" dirty="0" err="1" smtClean="0"/>
              <a:t>analysis</a:t>
            </a:r>
            <a:r>
              <a:rPr lang="fr-FR" dirty="0" smtClean="0"/>
              <a:t>).</a:t>
            </a:r>
          </a:p>
          <a:p>
            <a:r>
              <a:rPr lang="fr-FR" dirty="0" smtClean="0"/>
              <a:t>Conception de plans de développement (formation, recrutement, mobilité interne).</a:t>
            </a:r>
          </a:p>
          <a:p>
            <a:r>
              <a:rPr lang="fr-FR" dirty="0" smtClean="0"/>
              <a:t>Évaluation et suivi de la montée en compétences.</a:t>
            </a:r>
          </a:p>
          <a:p>
            <a:endParaRPr lang="fr-F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re 1"/>
          <p:cNvSpPr>
            <a:spLocks noGrp="1"/>
          </p:cNvSpPr>
          <p:nvPr>
            <p:ph type="title" idx="4294967295"/>
          </p:nvPr>
        </p:nvSpPr>
        <p:spPr>
          <a:xfrm>
            <a:off x="446856" y="338138"/>
            <a:ext cx="8229600" cy="1577975"/>
          </a:xfrm>
          <a:prstGeom prst="horizontalScroll">
            <a:avLst>
              <a:gd name="adj" fmla="val 12500"/>
            </a:avLst>
          </a:prstGeom>
          <a:solidFill>
            <a:schemeClr val="bg2"/>
          </a:solidFill>
          <a:ln>
            <a:solidFill>
              <a:srgbClr val="FF99CC"/>
            </a:solidFill>
            <a:round/>
            <a:headEnd type="none" w="med" len="med"/>
            <a:tailEnd type="none" w="med" len="med"/>
          </a:ln>
        </p:spPr>
        <p:txBody>
          <a:bodyPr lIns="91440" rIns="91440" bIns="45720">
            <a:normAutofit fontScale="90000"/>
          </a:bodyPr>
          <a:lstStyle/>
          <a:p>
            <a:r>
              <a:rPr lang="fr-FR" b="1" dirty="0" smtClean="0">
                <a:solidFill>
                  <a:schemeClr val="tx2"/>
                </a:solidFill>
              </a:rPr>
              <a:t>Analyse des besoins :  l’état des lieux</a:t>
            </a:r>
          </a:p>
        </p:txBody>
      </p:sp>
      <p:sp>
        <p:nvSpPr>
          <p:cNvPr id="69635" name="Espace réservé du contenu 2"/>
          <p:cNvSpPr>
            <a:spLocks noGrp="1"/>
          </p:cNvSpPr>
          <p:nvPr>
            <p:ph idx="4294967295"/>
          </p:nvPr>
        </p:nvSpPr>
        <p:spPr>
          <a:xfrm>
            <a:off x="179512" y="1988840"/>
            <a:ext cx="8691364" cy="3770436"/>
          </a:xfrm>
          <a:prstGeom prst="verticalScroll">
            <a:avLst>
              <a:gd name="adj" fmla="val 12500"/>
            </a:avLst>
          </a:prstGeom>
          <a:solidFill>
            <a:schemeClr val="bg2"/>
          </a:solidFill>
        </p:spPr>
        <p:txBody>
          <a:bodyPr>
            <a:normAutofit fontScale="85000" lnSpcReduction="10000"/>
          </a:bodyPr>
          <a:lstStyle/>
          <a:p>
            <a:pPr>
              <a:spcBef>
                <a:spcPct val="60000"/>
              </a:spcBef>
            </a:pPr>
            <a:r>
              <a:rPr lang="fr-FR" dirty="0" smtClean="0">
                <a:solidFill>
                  <a:schemeClr val="tx2"/>
                </a:solidFill>
              </a:rPr>
              <a:t>L’analyse des besoins est une étape primordiale</a:t>
            </a:r>
          </a:p>
          <a:p>
            <a:pPr>
              <a:spcBef>
                <a:spcPct val="60000"/>
              </a:spcBef>
            </a:pPr>
            <a:r>
              <a:rPr lang="fr-FR" dirty="0" smtClean="0">
                <a:solidFill>
                  <a:schemeClr val="tx2"/>
                </a:solidFill>
              </a:rPr>
              <a:t>Elle permet d’avoir une vue sur le présent</a:t>
            </a:r>
          </a:p>
          <a:p>
            <a:pPr>
              <a:spcBef>
                <a:spcPct val="60000"/>
              </a:spcBef>
            </a:pPr>
            <a:r>
              <a:rPr lang="fr-FR" dirty="0" smtClean="0">
                <a:solidFill>
                  <a:schemeClr val="tx2"/>
                </a:solidFill>
              </a:rPr>
              <a:t>Il s’agit de faire un Portrait quantitatif (combien en matière d’effectif) et qualitatif (quels sont les niveaux de compétences) des ressources actuelles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69634"/>
                                        </p:tgtEl>
                                        <p:attrNameLst>
                                          <p:attrName>style.visibility</p:attrName>
                                        </p:attrNameLst>
                                      </p:cBhvr>
                                      <p:to>
                                        <p:strVal val="visible"/>
                                      </p:to>
                                    </p:set>
                                    <p:anim calcmode="lin" valueType="num">
                                      <p:cBhvr>
                                        <p:cTn id="7" dur="500" fill="hold"/>
                                        <p:tgtEl>
                                          <p:spTgt spid="6963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9634"/>
                                        </p:tgtEl>
                                        <p:attrNameLst>
                                          <p:attrName>ppt_y</p:attrName>
                                        </p:attrNameLst>
                                      </p:cBhvr>
                                      <p:tavLst>
                                        <p:tav tm="0">
                                          <p:val>
                                            <p:strVal val="#ppt_y"/>
                                          </p:val>
                                        </p:tav>
                                        <p:tav tm="100000">
                                          <p:val>
                                            <p:strVal val="#ppt_y"/>
                                          </p:val>
                                        </p:tav>
                                      </p:tavLst>
                                    </p:anim>
                                    <p:anim calcmode="lin" valueType="num">
                                      <p:cBhvr>
                                        <p:cTn id="9" dur="500" fill="hold"/>
                                        <p:tgtEl>
                                          <p:spTgt spid="6963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963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9634"/>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69635"/>
                                        </p:tgtEl>
                                        <p:attrNameLst>
                                          <p:attrName>style.visibility</p:attrName>
                                        </p:attrNameLst>
                                      </p:cBhvr>
                                      <p:to>
                                        <p:strVal val="visible"/>
                                      </p:to>
                                    </p:set>
                                    <p:animEffect transition="in" filter="diamond(in)">
                                      <p:cBhvr>
                                        <p:cTn id="16" dur="2000"/>
                                        <p:tgtEl>
                                          <p:spTgt spid="69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nimBg="1"/>
      <p:bldP spid="6963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re 1"/>
          <p:cNvSpPr>
            <a:spLocks noGrp="1"/>
          </p:cNvSpPr>
          <p:nvPr>
            <p:ph type="title" idx="4294967295"/>
          </p:nvPr>
        </p:nvSpPr>
        <p:spPr>
          <a:xfrm>
            <a:off x="467544" y="260648"/>
            <a:ext cx="8229600" cy="1143000"/>
          </a:xfrm>
          <a:prstGeom prst="horizontalScroll">
            <a:avLst>
              <a:gd name="adj" fmla="val 12500"/>
            </a:avLst>
          </a:prstGeom>
          <a:solidFill>
            <a:schemeClr val="bg2"/>
          </a:solidFill>
          <a:ln>
            <a:solidFill>
              <a:schemeClr val="tx1"/>
            </a:solidFill>
            <a:round/>
          </a:ln>
        </p:spPr>
        <p:txBody>
          <a:bodyPr lIns="91440" rIns="91440" bIns="45720"/>
          <a:lstStyle/>
          <a:p>
            <a:r>
              <a:rPr lang="fr-FR" dirty="0" smtClean="0">
                <a:solidFill>
                  <a:schemeClr val="tx2"/>
                </a:solidFill>
              </a:rPr>
              <a:t>le répertoire des métiers</a:t>
            </a:r>
          </a:p>
        </p:txBody>
      </p:sp>
      <p:sp>
        <p:nvSpPr>
          <p:cNvPr id="70659" name="Espace réservé du contenu 2"/>
          <p:cNvSpPr>
            <a:spLocks noGrp="1"/>
          </p:cNvSpPr>
          <p:nvPr>
            <p:ph idx="4294967295"/>
          </p:nvPr>
        </p:nvSpPr>
        <p:spPr>
          <a:xfrm>
            <a:off x="0" y="1557338"/>
            <a:ext cx="8258175" cy="5040312"/>
          </a:xfrm>
          <a:prstGeom prst="verticalScroll">
            <a:avLst>
              <a:gd name="adj" fmla="val 12500"/>
            </a:avLst>
          </a:prstGeom>
          <a:solidFill>
            <a:schemeClr val="bg2"/>
          </a:solidFill>
          <a:ln>
            <a:solidFill>
              <a:schemeClr val="tx1"/>
            </a:solidFill>
            <a:round/>
          </a:ln>
        </p:spPr>
        <p:txBody>
          <a:bodyPr>
            <a:normAutofit fontScale="92500" lnSpcReduction="10000"/>
          </a:bodyPr>
          <a:lstStyle/>
          <a:p>
            <a:pPr>
              <a:buNone/>
            </a:pPr>
            <a:r>
              <a:rPr lang="fr-FR" b="1" dirty="0" smtClean="0"/>
              <a:t>Définition d’un répertoire des métiers</a:t>
            </a:r>
          </a:p>
          <a:p>
            <a:r>
              <a:rPr lang="fr-FR" dirty="0" smtClean="0"/>
              <a:t>st un outil de gestion des ressources humaines qui recense et décrit de manière structurée </a:t>
            </a:r>
            <a:r>
              <a:rPr lang="fr-FR" b="1" u="sng" dirty="0" smtClean="0"/>
              <a:t>l’ensemble des métiers et des emplois</a:t>
            </a:r>
            <a:r>
              <a:rPr lang="fr-FR" u="sng" dirty="0" smtClean="0"/>
              <a:t> </a:t>
            </a:r>
            <a:r>
              <a:rPr lang="fr-FR" dirty="0" smtClean="0"/>
              <a:t>existant au sein d’une organisation ou d’un secteur d’activité. Il vise à clarifier les rôles, les responsabilités et les compétences associées à chaque métier.</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70658"/>
                                        </p:tgtEl>
                                        <p:attrNameLst>
                                          <p:attrName>style.visibility</p:attrName>
                                        </p:attrNameLst>
                                      </p:cBhvr>
                                      <p:to>
                                        <p:strVal val="visible"/>
                                      </p:to>
                                    </p:set>
                                    <p:anim calcmode="lin" valueType="num">
                                      <p:cBhvr>
                                        <p:cTn id="7" dur="500" fill="hold"/>
                                        <p:tgtEl>
                                          <p:spTgt spid="7065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0658"/>
                                        </p:tgtEl>
                                        <p:attrNameLst>
                                          <p:attrName>ppt_y</p:attrName>
                                        </p:attrNameLst>
                                      </p:cBhvr>
                                      <p:tavLst>
                                        <p:tav tm="0">
                                          <p:val>
                                            <p:strVal val="#ppt_y"/>
                                          </p:val>
                                        </p:tav>
                                        <p:tav tm="100000">
                                          <p:val>
                                            <p:strVal val="#ppt_y"/>
                                          </p:val>
                                        </p:tav>
                                      </p:tavLst>
                                    </p:anim>
                                    <p:anim calcmode="lin" valueType="num">
                                      <p:cBhvr>
                                        <p:cTn id="9" dur="500" fill="hold"/>
                                        <p:tgtEl>
                                          <p:spTgt spid="7065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065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0658"/>
                                        </p:tgtEl>
                                      </p:cBhvr>
                                    </p:animEffect>
                                  </p:childTnLst>
                                </p:cTn>
                              </p:par>
                            </p:childTnLst>
                          </p:cTn>
                        </p:par>
                      </p:childTnLst>
                    </p:cTn>
                  </p:par>
                  <p:par>
                    <p:cTn id="12" fill="hold">
                      <p:stCondLst>
                        <p:cond delay="indefinite"/>
                      </p:stCondLst>
                      <p:childTnLst>
                        <p:par>
                          <p:cTn id="13" fill="hold">
                            <p:stCondLst>
                              <p:cond delay="0"/>
                            </p:stCondLst>
                            <p:childTnLst>
                              <p:par>
                                <p:cTn id="14" presetID="26" presetClass="entr" presetSubtype="0" fill="hold" grpId="0" nodeType="clickEffect">
                                  <p:stCondLst>
                                    <p:cond delay="0"/>
                                  </p:stCondLst>
                                  <p:childTnLst>
                                    <p:set>
                                      <p:cBhvr>
                                        <p:cTn id="15" dur="1" fill="hold">
                                          <p:stCondLst>
                                            <p:cond delay="0"/>
                                          </p:stCondLst>
                                        </p:cTn>
                                        <p:tgtEl>
                                          <p:spTgt spid="70659"/>
                                        </p:tgtEl>
                                        <p:attrNameLst>
                                          <p:attrName>style.visibility</p:attrName>
                                        </p:attrNameLst>
                                      </p:cBhvr>
                                      <p:to>
                                        <p:strVal val="visible"/>
                                      </p:to>
                                    </p:set>
                                    <p:animEffect transition="in" filter="wipe(down)">
                                      <p:cBhvr>
                                        <p:cTn id="16" dur="580">
                                          <p:stCondLst>
                                            <p:cond delay="0"/>
                                          </p:stCondLst>
                                        </p:cTn>
                                        <p:tgtEl>
                                          <p:spTgt spid="70659"/>
                                        </p:tgtEl>
                                      </p:cBhvr>
                                    </p:animEffect>
                                    <p:anim calcmode="lin" valueType="num">
                                      <p:cBhvr>
                                        <p:cTn id="17" dur="1822" tmFilter="0,0; 0.14,0.36; 0.43,0.73; 0.71,0.91; 1.0,1.0">
                                          <p:stCondLst>
                                            <p:cond delay="0"/>
                                          </p:stCondLst>
                                        </p:cTn>
                                        <p:tgtEl>
                                          <p:spTgt spid="70659"/>
                                        </p:tgtEl>
                                        <p:attrNameLst>
                                          <p:attrName>ppt_x</p:attrName>
                                        </p:attrNameLst>
                                      </p:cBhvr>
                                      <p:tavLst>
                                        <p:tav tm="0">
                                          <p:val>
                                            <p:strVal val="#ppt_x-0.25"/>
                                          </p:val>
                                        </p:tav>
                                        <p:tav tm="100000">
                                          <p:val>
                                            <p:strVal val="#ppt_x"/>
                                          </p:val>
                                        </p:tav>
                                      </p:tavLst>
                                    </p:anim>
                                    <p:anim calcmode="lin" valueType="num">
                                      <p:cBhvr>
                                        <p:cTn id="18" dur="664" tmFilter="0.0,0.0; 0.25,0.07; 0.50,0.2; 0.75,0.467; 1.0,1.0">
                                          <p:stCondLst>
                                            <p:cond delay="0"/>
                                          </p:stCondLst>
                                        </p:cTn>
                                        <p:tgtEl>
                                          <p:spTgt spid="70659"/>
                                        </p:tgtEl>
                                        <p:attrNameLst>
                                          <p:attrName>ppt_y</p:attrName>
                                        </p:attrNameLst>
                                      </p:cBhvr>
                                      <p:tavLst>
                                        <p:tav tm="0" fmla="#ppt_y-sin(pi*$)/3">
                                          <p:val>
                                            <p:fltVal val="0.5"/>
                                          </p:val>
                                        </p:tav>
                                        <p:tav tm="100000">
                                          <p:val>
                                            <p:fltVal val="1"/>
                                          </p:val>
                                        </p:tav>
                                      </p:tavLst>
                                    </p:anim>
                                    <p:anim calcmode="lin" valueType="num">
                                      <p:cBhvr>
                                        <p:cTn id="19" dur="664" tmFilter="0, 0; 0.125,0.2665; 0.25,0.4; 0.375,0.465; 0.5,0.5;  0.625,0.535; 0.75,0.6; 0.875,0.7335; 1,1">
                                          <p:stCondLst>
                                            <p:cond delay="664"/>
                                          </p:stCondLst>
                                        </p:cTn>
                                        <p:tgtEl>
                                          <p:spTgt spid="70659"/>
                                        </p:tgtEl>
                                        <p:attrNameLst>
                                          <p:attrName>ppt_y</p:attrName>
                                        </p:attrNameLst>
                                      </p:cBhvr>
                                      <p:tavLst>
                                        <p:tav tm="0" fmla="#ppt_y-sin(pi*$)/9">
                                          <p:val>
                                            <p:fltVal val="0"/>
                                          </p:val>
                                        </p:tav>
                                        <p:tav tm="100000">
                                          <p:val>
                                            <p:fltVal val="1"/>
                                          </p:val>
                                        </p:tav>
                                      </p:tavLst>
                                    </p:anim>
                                    <p:anim calcmode="lin" valueType="num">
                                      <p:cBhvr>
                                        <p:cTn id="20" dur="332" tmFilter="0, 0; 0.125,0.2665; 0.25,0.4; 0.375,0.465; 0.5,0.5;  0.625,0.535; 0.75,0.6; 0.875,0.7335; 1,1">
                                          <p:stCondLst>
                                            <p:cond delay="1324"/>
                                          </p:stCondLst>
                                        </p:cTn>
                                        <p:tgtEl>
                                          <p:spTgt spid="70659"/>
                                        </p:tgtEl>
                                        <p:attrNameLst>
                                          <p:attrName>ppt_y</p:attrName>
                                        </p:attrNameLst>
                                      </p:cBhvr>
                                      <p:tavLst>
                                        <p:tav tm="0" fmla="#ppt_y-sin(pi*$)/27">
                                          <p:val>
                                            <p:fltVal val="0"/>
                                          </p:val>
                                        </p:tav>
                                        <p:tav tm="100000">
                                          <p:val>
                                            <p:fltVal val="1"/>
                                          </p:val>
                                        </p:tav>
                                      </p:tavLst>
                                    </p:anim>
                                    <p:anim calcmode="lin" valueType="num">
                                      <p:cBhvr>
                                        <p:cTn id="21" dur="164" tmFilter="0, 0; 0.125,0.2665; 0.25,0.4; 0.375,0.465; 0.5,0.5;  0.625,0.535; 0.75,0.6; 0.875,0.7335; 1,1">
                                          <p:stCondLst>
                                            <p:cond delay="1656"/>
                                          </p:stCondLst>
                                        </p:cTn>
                                        <p:tgtEl>
                                          <p:spTgt spid="70659"/>
                                        </p:tgtEl>
                                        <p:attrNameLst>
                                          <p:attrName>ppt_y</p:attrName>
                                        </p:attrNameLst>
                                      </p:cBhvr>
                                      <p:tavLst>
                                        <p:tav tm="0" fmla="#ppt_y-sin(pi*$)/81">
                                          <p:val>
                                            <p:fltVal val="0"/>
                                          </p:val>
                                        </p:tav>
                                        <p:tav tm="100000">
                                          <p:val>
                                            <p:fltVal val="1"/>
                                          </p:val>
                                        </p:tav>
                                      </p:tavLst>
                                    </p:anim>
                                    <p:animScale>
                                      <p:cBhvr>
                                        <p:cTn id="22" dur="26">
                                          <p:stCondLst>
                                            <p:cond delay="650"/>
                                          </p:stCondLst>
                                        </p:cTn>
                                        <p:tgtEl>
                                          <p:spTgt spid="70659"/>
                                        </p:tgtEl>
                                      </p:cBhvr>
                                      <p:to x="100000" y="60000"/>
                                    </p:animScale>
                                    <p:animScale>
                                      <p:cBhvr>
                                        <p:cTn id="23" dur="166" decel="50000">
                                          <p:stCondLst>
                                            <p:cond delay="676"/>
                                          </p:stCondLst>
                                        </p:cTn>
                                        <p:tgtEl>
                                          <p:spTgt spid="70659"/>
                                        </p:tgtEl>
                                      </p:cBhvr>
                                      <p:to x="100000" y="100000"/>
                                    </p:animScale>
                                    <p:animScale>
                                      <p:cBhvr>
                                        <p:cTn id="24" dur="26">
                                          <p:stCondLst>
                                            <p:cond delay="1312"/>
                                          </p:stCondLst>
                                        </p:cTn>
                                        <p:tgtEl>
                                          <p:spTgt spid="70659"/>
                                        </p:tgtEl>
                                      </p:cBhvr>
                                      <p:to x="100000" y="80000"/>
                                    </p:animScale>
                                    <p:animScale>
                                      <p:cBhvr>
                                        <p:cTn id="25" dur="166" decel="50000">
                                          <p:stCondLst>
                                            <p:cond delay="1338"/>
                                          </p:stCondLst>
                                        </p:cTn>
                                        <p:tgtEl>
                                          <p:spTgt spid="70659"/>
                                        </p:tgtEl>
                                      </p:cBhvr>
                                      <p:to x="100000" y="100000"/>
                                    </p:animScale>
                                    <p:animScale>
                                      <p:cBhvr>
                                        <p:cTn id="26" dur="26">
                                          <p:stCondLst>
                                            <p:cond delay="1642"/>
                                          </p:stCondLst>
                                        </p:cTn>
                                        <p:tgtEl>
                                          <p:spTgt spid="70659"/>
                                        </p:tgtEl>
                                      </p:cBhvr>
                                      <p:to x="100000" y="90000"/>
                                    </p:animScale>
                                    <p:animScale>
                                      <p:cBhvr>
                                        <p:cTn id="27" dur="166" decel="50000">
                                          <p:stCondLst>
                                            <p:cond delay="1668"/>
                                          </p:stCondLst>
                                        </p:cTn>
                                        <p:tgtEl>
                                          <p:spTgt spid="70659"/>
                                        </p:tgtEl>
                                      </p:cBhvr>
                                      <p:to x="100000" y="100000"/>
                                    </p:animScale>
                                    <p:animScale>
                                      <p:cBhvr>
                                        <p:cTn id="28" dur="26">
                                          <p:stCondLst>
                                            <p:cond delay="1808"/>
                                          </p:stCondLst>
                                        </p:cTn>
                                        <p:tgtEl>
                                          <p:spTgt spid="70659"/>
                                        </p:tgtEl>
                                      </p:cBhvr>
                                      <p:to x="100000" y="95000"/>
                                    </p:animScale>
                                    <p:animScale>
                                      <p:cBhvr>
                                        <p:cTn id="29" dur="166" decel="50000">
                                          <p:stCondLst>
                                            <p:cond delay="1834"/>
                                          </p:stCondLst>
                                        </p:cTn>
                                        <p:tgtEl>
                                          <p:spTgt spid="7065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nimBg="1"/>
      <p:bldP spid="7065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a:xfrm>
            <a:off x="0" y="203200"/>
            <a:ext cx="9144000" cy="922338"/>
          </a:xfrm>
          <a:prstGeom prst="bevel">
            <a:avLst>
              <a:gd name="adj" fmla="val 12500"/>
            </a:avLst>
          </a:prstGeom>
          <a:solidFill>
            <a:srgbClr val="CC0066"/>
          </a:solidFill>
        </p:spPr>
        <p:txBody>
          <a:bodyPr>
            <a:normAutofit fontScale="90000"/>
          </a:bodyPr>
          <a:lstStyle/>
          <a:p>
            <a:r>
              <a:rPr lang="fr-FR" sz="3600" b="1" smtClean="0">
                <a:solidFill>
                  <a:srgbClr val="FFFFCC"/>
                </a:solidFill>
              </a:rPr>
              <a:t>Le répertoire des métiers</a:t>
            </a:r>
            <a:r>
              <a:rPr lang="fr-FR" sz="4000" b="1" smtClean="0">
                <a:solidFill>
                  <a:srgbClr val="FFFFCC"/>
                </a:solidFill>
              </a:rPr>
              <a:t> : </a:t>
            </a:r>
            <a:r>
              <a:rPr lang="fr-FR" sz="3600" b="1" smtClean="0">
                <a:solidFill>
                  <a:srgbClr val="FFFFCC"/>
                </a:solidFill>
              </a:rPr>
              <a:t>constitution</a:t>
            </a:r>
          </a:p>
        </p:txBody>
      </p:sp>
      <p:sp>
        <p:nvSpPr>
          <p:cNvPr id="7172" name="AutoShape 4"/>
          <p:cNvSpPr>
            <a:spLocks noChangeArrowheads="1"/>
          </p:cNvSpPr>
          <p:nvPr/>
        </p:nvSpPr>
        <p:spPr bwMode="auto">
          <a:xfrm>
            <a:off x="839788" y="1355725"/>
            <a:ext cx="7632700" cy="661988"/>
          </a:xfrm>
          <a:prstGeom prst="cube">
            <a:avLst>
              <a:gd name="adj" fmla="val 25000"/>
            </a:avLst>
          </a:prstGeom>
          <a:solidFill>
            <a:srgbClr val="3B9DFF"/>
          </a:solidFill>
          <a:ln w="9525">
            <a:noFill/>
            <a:miter lim="800000"/>
            <a:headEnd/>
            <a:tailEnd/>
          </a:ln>
        </p:spPr>
        <p:txBody>
          <a:bodyPr>
            <a:spAutoFit/>
          </a:bodyPr>
          <a:lstStyle/>
          <a:p>
            <a:pPr>
              <a:spcBef>
                <a:spcPct val="50000"/>
              </a:spcBef>
            </a:pPr>
            <a:r>
              <a:rPr lang="fr-FR" sz="2800" b="1">
                <a:solidFill>
                  <a:schemeClr val="bg1"/>
                </a:solidFill>
              </a:rPr>
              <a:t>Deux entrées pour constituer un répertoire</a:t>
            </a:r>
          </a:p>
        </p:txBody>
      </p:sp>
      <p:sp>
        <p:nvSpPr>
          <p:cNvPr id="7173" name="AutoShape 5"/>
          <p:cNvSpPr>
            <a:spLocks noChangeArrowheads="1"/>
          </p:cNvSpPr>
          <p:nvPr/>
        </p:nvSpPr>
        <p:spPr bwMode="auto">
          <a:xfrm>
            <a:off x="2700338" y="2647950"/>
            <a:ext cx="5111750" cy="719138"/>
          </a:xfrm>
          <a:prstGeom prst="cube">
            <a:avLst>
              <a:gd name="adj" fmla="val 25000"/>
            </a:avLst>
          </a:prstGeom>
          <a:solidFill>
            <a:srgbClr val="3FBFD9"/>
          </a:solidFill>
          <a:ln w="9525">
            <a:noFill/>
            <a:miter lim="800000"/>
            <a:headEnd/>
            <a:tailEnd/>
          </a:ln>
        </p:spPr>
        <p:txBody>
          <a:bodyPr/>
          <a:lstStyle/>
          <a:p>
            <a:pPr algn="ctr"/>
            <a:r>
              <a:rPr lang="fr-FR" sz="2400" b="1">
                <a:solidFill>
                  <a:schemeClr val="bg1"/>
                </a:solidFill>
              </a:rPr>
              <a:t>Les familles professionnelles</a:t>
            </a:r>
          </a:p>
        </p:txBody>
      </p:sp>
      <p:sp>
        <p:nvSpPr>
          <p:cNvPr id="7174" name="AutoShape 6"/>
          <p:cNvSpPr>
            <a:spLocks noChangeArrowheads="1"/>
          </p:cNvSpPr>
          <p:nvPr/>
        </p:nvSpPr>
        <p:spPr bwMode="auto">
          <a:xfrm>
            <a:off x="2532063" y="3295650"/>
            <a:ext cx="4919662" cy="792163"/>
          </a:xfrm>
          <a:prstGeom prst="cube">
            <a:avLst>
              <a:gd name="adj" fmla="val 25000"/>
            </a:avLst>
          </a:prstGeom>
          <a:solidFill>
            <a:srgbClr val="3B9DFF"/>
          </a:solidFill>
          <a:ln w="9525">
            <a:noFill/>
            <a:miter lim="800000"/>
            <a:headEnd/>
            <a:tailEnd/>
          </a:ln>
        </p:spPr>
        <p:txBody>
          <a:bodyPr/>
          <a:lstStyle/>
          <a:p>
            <a:pPr algn="ctr"/>
            <a:r>
              <a:rPr lang="fr-FR" sz="2400" b="1">
                <a:solidFill>
                  <a:schemeClr val="bg1"/>
                </a:solidFill>
              </a:rPr>
              <a:t>Les métiers</a:t>
            </a:r>
          </a:p>
        </p:txBody>
      </p:sp>
      <p:sp>
        <p:nvSpPr>
          <p:cNvPr id="7175" name="AutoShape 7"/>
          <p:cNvSpPr>
            <a:spLocks noChangeArrowheads="1"/>
          </p:cNvSpPr>
          <p:nvPr/>
        </p:nvSpPr>
        <p:spPr bwMode="auto">
          <a:xfrm>
            <a:off x="2171700" y="3943350"/>
            <a:ext cx="4992688" cy="792163"/>
          </a:xfrm>
          <a:prstGeom prst="cube">
            <a:avLst>
              <a:gd name="adj" fmla="val 25000"/>
            </a:avLst>
          </a:prstGeom>
          <a:solidFill>
            <a:srgbClr val="85AEFF"/>
          </a:solidFill>
          <a:ln w="9525">
            <a:noFill/>
            <a:miter lim="800000"/>
            <a:headEnd/>
            <a:tailEnd/>
          </a:ln>
        </p:spPr>
        <p:txBody>
          <a:bodyPr/>
          <a:lstStyle/>
          <a:p>
            <a:pPr algn="ctr"/>
            <a:r>
              <a:rPr lang="fr-FR" sz="2400" b="1">
                <a:solidFill>
                  <a:schemeClr val="bg1"/>
                </a:solidFill>
              </a:rPr>
              <a:t>Les emplois</a:t>
            </a:r>
          </a:p>
        </p:txBody>
      </p:sp>
      <p:sp>
        <p:nvSpPr>
          <p:cNvPr id="7176" name="AutoShape 8"/>
          <p:cNvSpPr>
            <a:spLocks noChangeArrowheads="1"/>
          </p:cNvSpPr>
          <p:nvPr/>
        </p:nvSpPr>
        <p:spPr bwMode="auto">
          <a:xfrm>
            <a:off x="1668463" y="4664075"/>
            <a:ext cx="5208587" cy="936625"/>
          </a:xfrm>
          <a:prstGeom prst="cube">
            <a:avLst>
              <a:gd name="adj" fmla="val 25000"/>
            </a:avLst>
          </a:prstGeom>
          <a:solidFill>
            <a:srgbClr val="6F94BD"/>
          </a:solidFill>
          <a:ln w="9525">
            <a:noFill/>
            <a:miter lim="800000"/>
            <a:headEnd/>
            <a:tailEnd/>
          </a:ln>
        </p:spPr>
        <p:txBody>
          <a:bodyPr/>
          <a:lstStyle/>
          <a:p>
            <a:pPr algn="ctr"/>
            <a:r>
              <a:rPr lang="fr-FR" sz="2400" b="1">
                <a:solidFill>
                  <a:schemeClr val="bg1"/>
                </a:solidFill>
              </a:rPr>
              <a:t>Les postes de travail</a:t>
            </a:r>
          </a:p>
        </p:txBody>
      </p:sp>
      <p:sp>
        <p:nvSpPr>
          <p:cNvPr id="26632" name="AutoShape 14"/>
          <p:cNvSpPr>
            <a:spLocks noChangeArrowheads="1"/>
          </p:cNvSpPr>
          <p:nvPr/>
        </p:nvSpPr>
        <p:spPr bwMode="auto">
          <a:xfrm>
            <a:off x="684213" y="2589213"/>
            <a:ext cx="679450" cy="3708400"/>
          </a:xfrm>
          <a:prstGeom prst="upArrow">
            <a:avLst>
              <a:gd name="adj1" fmla="val 50000"/>
              <a:gd name="adj2" fmla="val 136449"/>
            </a:avLst>
          </a:prstGeom>
          <a:solidFill>
            <a:srgbClr val="D60093"/>
          </a:solidFill>
          <a:ln w="38100" cmpd="dbl">
            <a:noFill/>
            <a:miter lim="800000"/>
            <a:headEnd/>
            <a:tailEnd/>
          </a:ln>
        </p:spPr>
        <p:txBody>
          <a:bodyPr>
            <a:spAutoFit/>
          </a:bodyPr>
          <a:lstStyle/>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p:txBody>
      </p:sp>
      <p:sp>
        <p:nvSpPr>
          <p:cNvPr id="7185" name="AutoShape 17"/>
          <p:cNvSpPr>
            <a:spLocks noChangeArrowheads="1"/>
          </p:cNvSpPr>
          <p:nvPr/>
        </p:nvSpPr>
        <p:spPr bwMode="auto">
          <a:xfrm>
            <a:off x="7967663" y="2571750"/>
            <a:ext cx="679450" cy="3708400"/>
          </a:xfrm>
          <a:prstGeom prst="downArrow">
            <a:avLst>
              <a:gd name="adj1" fmla="val 50000"/>
              <a:gd name="adj2" fmla="val 136449"/>
            </a:avLst>
          </a:prstGeom>
          <a:solidFill>
            <a:srgbClr val="1E1A6C"/>
          </a:solidFill>
          <a:ln w="38100" cmpd="dbl">
            <a:noFill/>
            <a:miter lim="800000"/>
            <a:headEnd/>
            <a:tailEnd/>
          </a:ln>
        </p:spPr>
        <p:txBody>
          <a:bodyPr>
            <a:spAutoFit/>
          </a:bodyPr>
          <a:lstStyle/>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a:p>
            <a:pPr algn="ctr">
              <a:spcBef>
                <a:spcPct val="50000"/>
              </a:spcBef>
            </a:pPr>
            <a:endParaRPr lang="fr-FR"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0-#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172"/>
                                        </p:tgtEl>
                                        <p:attrNameLst>
                                          <p:attrName>style.visibility</p:attrName>
                                        </p:attrNameLst>
                                      </p:cBhvr>
                                      <p:to>
                                        <p:strVal val="visible"/>
                                      </p:to>
                                    </p:set>
                                    <p:anim calcmode="lin" valueType="num">
                                      <p:cBhvr additive="base">
                                        <p:cTn id="13" dur="500" fill="hold"/>
                                        <p:tgtEl>
                                          <p:spTgt spid="7172"/>
                                        </p:tgtEl>
                                        <p:attrNameLst>
                                          <p:attrName>ppt_x</p:attrName>
                                        </p:attrNameLst>
                                      </p:cBhvr>
                                      <p:tavLst>
                                        <p:tav tm="0">
                                          <p:val>
                                            <p:strVal val="1+#ppt_w/2"/>
                                          </p:val>
                                        </p:tav>
                                        <p:tav tm="100000">
                                          <p:val>
                                            <p:strVal val="#ppt_x"/>
                                          </p:val>
                                        </p:tav>
                                      </p:tavLst>
                                    </p:anim>
                                    <p:anim calcmode="lin" valueType="num">
                                      <p:cBhvr additive="base">
                                        <p:cTn id="14" dur="500" fill="hold"/>
                                        <p:tgtEl>
                                          <p:spTgt spid="717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7173"/>
                                        </p:tgtEl>
                                        <p:attrNameLst>
                                          <p:attrName>style.visibility</p:attrName>
                                        </p:attrNameLst>
                                      </p:cBhvr>
                                      <p:to>
                                        <p:strVal val="visible"/>
                                      </p:to>
                                    </p:set>
                                    <p:anim calcmode="lin" valueType="num">
                                      <p:cBhvr additive="base">
                                        <p:cTn id="19" dur="500" fill="hold"/>
                                        <p:tgtEl>
                                          <p:spTgt spid="7173"/>
                                        </p:tgtEl>
                                        <p:attrNameLst>
                                          <p:attrName>ppt_x</p:attrName>
                                        </p:attrNameLst>
                                      </p:cBhvr>
                                      <p:tavLst>
                                        <p:tav tm="0">
                                          <p:val>
                                            <p:strVal val="#ppt_x"/>
                                          </p:val>
                                        </p:tav>
                                        <p:tav tm="100000">
                                          <p:val>
                                            <p:strVal val="#ppt_x"/>
                                          </p:val>
                                        </p:tav>
                                      </p:tavLst>
                                    </p:anim>
                                    <p:anim calcmode="lin" valueType="num">
                                      <p:cBhvr additive="base">
                                        <p:cTn id="20" dur="500" fill="hold"/>
                                        <p:tgtEl>
                                          <p:spTgt spid="7173"/>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74"/>
                                        </p:tgtEl>
                                        <p:attrNameLst>
                                          <p:attrName>style.visibility</p:attrName>
                                        </p:attrNameLst>
                                      </p:cBhvr>
                                      <p:to>
                                        <p:strVal val="visible"/>
                                      </p:to>
                                    </p:set>
                                    <p:anim calcmode="lin" valueType="num">
                                      <p:cBhvr additive="base">
                                        <p:cTn id="25" dur="500" fill="hold"/>
                                        <p:tgtEl>
                                          <p:spTgt spid="7174"/>
                                        </p:tgtEl>
                                        <p:attrNameLst>
                                          <p:attrName>ppt_x</p:attrName>
                                        </p:attrNameLst>
                                      </p:cBhvr>
                                      <p:tavLst>
                                        <p:tav tm="0">
                                          <p:val>
                                            <p:strVal val="0-#ppt_w/2"/>
                                          </p:val>
                                        </p:tav>
                                        <p:tav tm="100000">
                                          <p:val>
                                            <p:strVal val="#ppt_x"/>
                                          </p:val>
                                        </p:tav>
                                      </p:tavLst>
                                    </p:anim>
                                    <p:anim calcmode="lin" valueType="num">
                                      <p:cBhvr additive="base">
                                        <p:cTn id="26" dur="500" fill="hold"/>
                                        <p:tgtEl>
                                          <p:spTgt spid="717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175"/>
                                        </p:tgtEl>
                                        <p:attrNameLst>
                                          <p:attrName>style.visibility</p:attrName>
                                        </p:attrNameLst>
                                      </p:cBhvr>
                                      <p:to>
                                        <p:strVal val="visible"/>
                                      </p:to>
                                    </p:set>
                                    <p:anim calcmode="lin" valueType="num">
                                      <p:cBhvr additive="base">
                                        <p:cTn id="31" dur="500" fill="hold"/>
                                        <p:tgtEl>
                                          <p:spTgt spid="7175"/>
                                        </p:tgtEl>
                                        <p:attrNameLst>
                                          <p:attrName>ppt_x</p:attrName>
                                        </p:attrNameLst>
                                      </p:cBhvr>
                                      <p:tavLst>
                                        <p:tav tm="0">
                                          <p:val>
                                            <p:strVal val="1+#ppt_w/2"/>
                                          </p:val>
                                        </p:tav>
                                        <p:tav tm="100000">
                                          <p:val>
                                            <p:strVal val="#ppt_x"/>
                                          </p:val>
                                        </p:tav>
                                      </p:tavLst>
                                    </p:anim>
                                    <p:anim calcmode="lin" valueType="num">
                                      <p:cBhvr additive="base">
                                        <p:cTn id="32" dur="500" fill="hold"/>
                                        <p:tgtEl>
                                          <p:spTgt spid="717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176"/>
                                        </p:tgtEl>
                                        <p:attrNameLst>
                                          <p:attrName>style.visibility</p:attrName>
                                        </p:attrNameLst>
                                      </p:cBhvr>
                                      <p:to>
                                        <p:strVal val="visible"/>
                                      </p:to>
                                    </p:set>
                                    <p:anim calcmode="lin" valueType="num">
                                      <p:cBhvr additive="base">
                                        <p:cTn id="37" dur="500" fill="hold"/>
                                        <p:tgtEl>
                                          <p:spTgt spid="7176"/>
                                        </p:tgtEl>
                                        <p:attrNameLst>
                                          <p:attrName>ppt_x</p:attrName>
                                        </p:attrNameLst>
                                      </p:cBhvr>
                                      <p:tavLst>
                                        <p:tav tm="0">
                                          <p:val>
                                            <p:strVal val="#ppt_x"/>
                                          </p:val>
                                        </p:tav>
                                        <p:tav tm="100000">
                                          <p:val>
                                            <p:strVal val="#ppt_x"/>
                                          </p:val>
                                        </p:tav>
                                      </p:tavLst>
                                    </p:anim>
                                    <p:anim calcmode="lin" valueType="num">
                                      <p:cBhvr additive="base">
                                        <p:cTn id="38" dur="500" fill="hold"/>
                                        <p:tgtEl>
                                          <p:spTgt spid="717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7185"/>
                                        </p:tgtEl>
                                        <p:attrNameLst>
                                          <p:attrName>style.visibility</p:attrName>
                                        </p:attrNameLst>
                                      </p:cBhvr>
                                      <p:to>
                                        <p:strVal val="visible"/>
                                      </p:to>
                                    </p:set>
                                    <p:anim calcmode="lin" valueType="num">
                                      <p:cBhvr additive="base">
                                        <p:cTn id="43" dur="500" fill="hold"/>
                                        <p:tgtEl>
                                          <p:spTgt spid="7185"/>
                                        </p:tgtEl>
                                        <p:attrNameLst>
                                          <p:attrName>ppt_x</p:attrName>
                                        </p:attrNameLst>
                                      </p:cBhvr>
                                      <p:tavLst>
                                        <p:tav tm="0">
                                          <p:val>
                                            <p:strVal val="#ppt_x"/>
                                          </p:val>
                                        </p:tav>
                                        <p:tav tm="100000">
                                          <p:val>
                                            <p:strVal val="#ppt_x"/>
                                          </p:val>
                                        </p:tav>
                                      </p:tavLst>
                                    </p:anim>
                                    <p:anim calcmode="lin" valueType="num">
                                      <p:cBhvr additive="base">
                                        <p:cTn id="44" dur="500" fill="hold"/>
                                        <p:tgtEl>
                                          <p:spTgt spid="718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p:bldP spid="7172" grpId="0" animBg="1"/>
      <p:bldP spid="7173" grpId="0" animBg="1"/>
      <p:bldP spid="7174" grpId="0" animBg="1"/>
      <p:bldP spid="7175" grpId="0" animBg="1"/>
      <p:bldP spid="7176" grpId="0" animBg="1"/>
      <p:bldP spid="718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AutoShape 4" descr="Jeans"/>
          <p:cNvSpPr>
            <a:spLocks noChangeArrowheads="1"/>
          </p:cNvSpPr>
          <p:nvPr/>
        </p:nvSpPr>
        <p:spPr bwMode="auto">
          <a:xfrm>
            <a:off x="0" y="203200"/>
            <a:ext cx="9144000" cy="922338"/>
          </a:xfrm>
          <a:prstGeom prst="bevel">
            <a:avLst>
              <a:gd name="adj" fmla="val 12500"/>
            </a:avLst>
          </a:prstGeom>
          <a:blipFill dpi="0" rotWithShape="1">
            <a:blip r:embed="rId2" cstate="print"/>
            <a:srcRect/>
            <a:tile tx="0" ty="0" sx="100000" sy="100000" flip="none" algn="tl"/>
          </a:blipFill>
          <a:ln w="9525">
            <a:noFill/>
            <a:miter lim="800000"/>
            <a:headEnd/>
            <a:tailEnd/>
          </a:ln>
        </p:spPr>
        <p:txBody>
          <a:bodyPr lIns="91437" tIns="45718" rIns="91437" bIns="45718" anchor="ctr"/>
          <a:lstStyle/>
          <a:p>
            <a:pPr algn="ctr"/>
            <a:r>
              <a:rPr lang="fr-FR" sz="4000" b="1">
                <a:solidFill>
                  <a:schemeClr val="bg1"/>
                </a:solidFill>
              </a:rPr>
              <a:t>Le répertoire des métiers</a:t>
            </a:r>
          </a:p>
        </p:txBody>
      </p:sp>
      <p:sp>
        <p:nvSpPr>
          <p:cNvPr id="10249" name="Text Box 9"/>
          <p:cNvSpPr txBox="1">
            <a:spLocks noChangeArrowheads="1"/>
          </p:cNvSpPr>
          <p:nvPr/>
        </p:nvSpPr>
        <p:spPr bwMode="auto">
          <a:xfrm>
            <a:off x="1835150" y="1412875"/>
            <a:ext cx="5761038" cy="914400"/>
          </a:xfrm>
          <a:prstGeom prst="rect">
            <a:avLst/>
          </a:prstGeom>
          <a:noFill/>
          <a:ln w="9525">
            <a:noFill/>
            <a:miter lim="800000"/>
            <a:headEnd/>
            <a:tailEnd/>
          </a:ln>
        </p:spPr>
        <p:txBody>
          <a:bodyPr>
            <a:spAutoFit/>
          </a:bodyPr>
          <a:lstStyle/>
          <a:p>
            <a:pPr algn="ctr">
              <a:spcBef>
                <a:spcPct val="50000"/>
              </a:spcBef>
            </a:pPr>
            <a:r>
              <a:rPr lang="fr-FR" sz="5400">
                <a:solidFill>
                  <a:srgbClr val="920000"/>
                </a:solidFill>
                <a:latin typeface="Comic Sans MS" pitchFamily="66" charset="0"/>
              </a:rPr>
              <a:t>LES ETAPES</a:t>
            </a:r>
          </a:p>
        </p:txBody>
      </p:sp>
      <p:sp>
        <p:nvSpPr>
          <p:cNvPr id="10250" name="Text Box 10"/>
          <p:cNvSpPr txBox="1">
            <a:spLocks noChangeArrowheads="1"/>
          </p:cNvSpPr>
          <p:nvPr/>
        </p:nvSpPr>
        <p:spPr bwMode="auto">
          <a:xfrm>
            <a:off x="250825" y="2776538"/>
            <a:ext cx="8569325" cy="2452687"/>
          </a:xfrm>
          <a:prstGeom prst="rect">
            <a:avLst/>
          </a:prstGeom>
          <a:solidFill>
            <a:schemeClr val="accent2"/>
          </a:solidFill>
          <a:ln w="9525">
            <a:solidFill>
              <a:schemeClr val="accent2"/>
            </a:solidFill>
            <a:miter lim="800000"/>
            <a:headEnd/>
            <a:tailEnd/>
          </a:ln>
        </p:spPr>
        <p:txBody>
          <a:bodyPr>
            <a:spAutoFit/>
          </a:bodyPr>
          <a:lstStyle/>
          <a:p>
            <a:pPr>
              <a:spcBef>
                <a:spcPct val="50000"/>
              </a:spcBef>
              <a:buFont typeface="Wingdings" pitchFamily="2" charset="2"/>
              <a:buChar char="ü"/>
            </a:pPr>
            <a:r>
              <a:rPr lang="fr-FR" sz="2800" b="1">
                <a:solidFill>
                  <a:srgbClr val="CCFF33"/>
                </a:solidFill>
              </a:rPr>
              <a:t> Recensement des postes concrets</a:t>
            </a:r>
          </a:p>
          <a:p>
            <a:pPr>
              <a:spcBef>
                <a:spcPct val="50000"/>
              </a:spcBef>
              <a:buFont typeface="Wingdings" pitchFamily="2" charset="2"/>
              <a:buChar char="ü"/>
            </a:pPr>
            <a:r>
              <a:rPr lang="fr-FR" sz="2800" b="1">
                <a:solidFill>
                  <a:srgbClr val="CCFF33"/>
                </a:solidFill>
              </a:rPr>
              <a:t> Délimitation des métiers </a:t>
            </a:r>
          </a:p>
          <a:p>
            <a:pPr>
              <a:spcBef>
                <a:spcPct val="50000"/>
              </a:spcBef>
              <a:buFont typeface="Wingdings" pitchFamily="2" charset="2"/>
              <a:buChar char="ü"/>
            </a:pPr>
            <a:r>
              <a:rPr lang="fr-FR" sz="2800" b="1">
                <a:solidFill>
                  <a:srgbClr val="CCFF33"/>
                </a:solidFill>
              </a:rPr>
              <a:t> Élaboration des intitulés adaptés</a:t>
            </a:r>
          </a:p>
          <a:p>
            <a:pPr>
              <a:spcBef>
                <a:spcPct val="50000"/>
              </a:spcBef>
              <a:buFont typeface="Wingdings" pitchFamily="2" charset="2"/>
              <a:buChar char="ü"/>
            </a:pPr>
            <a:r>
              <a:rPr lang="fr-FR" sz="2800" b="1">
                <a:solidFill>
                  <a:srgbClr val="CCFF33"/>
                </a:solidFill>
              </a:rPr>
              <a:t> Validation du répertoire (technique, politique)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p:cTn id="7" dur="500" fill="hold"/>
                                        <p:tgtEl>
                                          <p:spTgt spid="10244"/>
                                        </p:tgtEl>
                                        <p:attrNameLst>
                                          <p:attrName>ppt_w</p:attrName>
                                        </p:attrNameLst>
                                      </p:cBhvr>
                                      <p:tavLst>
                                        <p:tav tm="0">
                                          <p:val>
                                            <p:fltVal val="0"/>
                                          </p:val>
                                        </p:tav>
                                        <p:tav tm="100000">
                                          <p:val>
                                            <p:strVal val="#ppt_w"/>
                                          </p:val>
                                        </p:tav>
                                      </p:tavLst>
                                    </p:anim>
                                    <p:anim calcmode="lin" valueType="num">
                                      <p:cBhvr>
                                        <p:cTn id="8" dur="500" fill="hold"/>
                                        <p:tgtEl>
                                          <p:spTgt spid="10244"/>
                                        </p:tgtEl>
                                        <p:attrNameLst>
                                          <p:attrName>ppt_h</p:attrName>
                                        </p:attrNameLst>
                                      </p:cBhvr>
                                      <p:tavLst>
                                        <p:tav tm="0">
                                          <p:val>
                                            <p:fltVal val="0"/>
                                          </p:val>
                                        </p:tav>
                                        <p:tav tm="100000">
                                          <p:val>
                                            <p:strVal val="#ppt_h"/>
                                          </p:val>
                                        </p:tav>
                                      </p:tavLst>
                                    </p:anim>
                                    <p:anim calcmode="lin" valueType="num">
                                      <p:cBhvr>
                                        <p:cTn id="9" dur="500" fill="hold"/>
                                        <p:tgtEl>
                                          <p:spTgt spid="10244"/>
                                        </p:tgtEl>
                                        <p:attrNameLst>
                                          <p:attrName>style.rotation</p:attrName>
                                        </p:attrNameLst>
                                      </p:cBhvr>
                                      <p:tavLst>
                                        <p:tav tm="0">
                                          <p:val>
                                            <p:fltVal val="360"/>
                                          </p:val>
                                        </p:tav>
                                        <p:tav tm="100000">
                                          <p:val>
                                            <p:fltVal val="0"/>
                                          </p:val>
                                        </p:tav>
                                      </p:tavLst>
                                    </p:anim>
                                    <p:animEffect transition="in" filter="fade">
                                      <p:cBhvr>
                                        <p:cTn id="10" dur="500"/>
                                        <p:tgtEl>
                                          <p:spTgt spid="10244"/>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1" fill="hold" grpId="0" nodeType="clickEffect">
                                  <p:stCondLst>
                                    <p:cond delay="0"/>
                                  </p:stCondLst>
                                  <p:childTnLst>
                                    <p:set>
                                      <p:cBhvr>
                                        <p:cTn id="14" dur="1" fill="hold">
                                          <p:stCondLst>
                                            <p:cond delay="0"/>
                                          </p:stCondLst>
                                        </p:cTn>
                                        <p:tgtEl>
                                          <p:spTgt spid="10249"/>
                                        </p:tgtEl>
                                        <p:attrNameLst>
                                          <p:attrName>style.visibility</p:attrName>
                                        </p:attrNameLst>
                                      </p:cBhvr>
                                      <p:to>
                                        <p:strVal val="visible"/>
                                      </p:to>
                                    </p:set>
                                    <p:anim calcmode="lin" valueType="num">
                                      <p:cBhvr additive="base">
                                        <p:cTn id="15" dur="500" fill="hold"/>
                                        <p:tgtEl>
                                          <p:spTgt spid="10249"/>
                                        </p:tgtEl>
                                        <p:attrNameLst>
                                          <p:attrName>ppt_x</p:attrName>
                                        </p:attrNameLst>
                                      </p:cBhvr>
                                      <p:tavLst>
                                        <p:tav tm="0">
                                          <p:val>
                                            <p:strVal val="#ppt_x"/>
                                          </p:val>
                                        </p:tav>
                                        <p:tav tm="100000">
                                          <p:val>
                                            <p:strVal val="#ppt_x"/>
                                          </p:val>
                                        </p:tav>
                                      </p:tavLst>
                                    </p:anim>
                                    <p:anim calcmode="lin" valueType="num">
                                      <p:cBhvr additive="base">
                                        <p:cTn id="16" dur="500" fill="hold"/>
                                        <p:tgtEl>
                                          <p:spTgt spid="10249"/>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9" presetClass="entr" presetSubtype="0" decel="100000" fill="hold" grpId="0" nodeType="clickEffect">
                                  <p:stCondLst>
                                    <p:cond delay="0"/>
                                  </p:stCondLst>
                                  <p:childTnLst>
                                    <p:set>
                                      <p:cBhvr>
                                        <p:cTn id="20" dur="1" fill="hold">
                                          <p:stCondLst>
                                            <p:cond delay="0"/>
                                          </p:stCondLst>
                                        </p:cTn>
                                        <p:tgtEl>
                                          <p:spTgt spid="10250"/>
                                        </p:tgtEl>
                                        <p:attrNameLst>
                                          <p:attrName>style.visibility</p:attrName>
                                        </p:attrNameLst>
                                      </p:cBhvr>
                                      <p:to>
                                        <p:strVal val="visible"/>
                                      </p:to>
                                    </p:set>
                                    <p:anim calcmode="lin" valueType="num">
                                      <p:cBhvr>
                                        <p:cTn id="21" dur="500" fill="hold"/>
                                        <p:tgtEl>
                                          <p:spTgt spid="10250"/>
                                        </p:tgtEl>
                                        <p:attrNameLst>
                                          <p:attrName>ppt_w</p:attrName>
                                        </p:attrNameLst>
                                      </p:cBhvr>
                                      <p:tavLst>
                                        <p:tav tm="0">
                                          <p:val>
                                            <p:fltVal val="0"/>
                                          </p:val>
                                        </p:tav>
                                        <p:tav tm="100000">
                                          <p:val>
                                            <p:strVal val="#ppt_w"/>
                                          </p:val>
                                        </p:tav>
                                      </p:tavLst>
                                    </p:anim>
                                    <p:anim calcmode="lin" valueType="num">
                                      <p:cBhvr>
                                        <p:cTn id="22" dur="500" fill="hold"/>
                                        <p:tgtEl>
                                          <p:spTgt spid="10250"/>
                                        </p:tgtEl>
                                        <p:attrNameLst>
                                          <p:attrName>ppt_h</p:attrName>
                                        </p:attrNameLst>
                                      </p:cBhvr>
                                      <p:tavLst>
                                        <p:tav tm="0">
                                          <p:val>
                                            <p:fltVal val="0"/>
                                          </p:val>
                                        </p:tav>
                                        <p:tav tm="100000">
                                          <p:val>
                                            <p:strVal val="#ppt_h"/>
                                          </p:val>
                                        </p:tav>
                                      </p:tavLst>
                                    </p:anim>
                                    <p:anim calcmode="lin" valueType="num">
                                      <p:cBhvr>
                                        <p:cTn id="23" dur="500" fill="hold"/>
                                        <p:tgtEl>
                                          <p:spTgt spid="10250"/>
                                        </p:tgtEl>
                                        <p:attrNameLst>
                                          <p:attrName>style.rotation</p:attrName>
                                        </p:attrNameLst>
                                      </p:cBhvr>
                                      <p:tavLst>
                                        <p:tav tm="0">
                                          <p:val>
                                            <p:fltVal val="360"/>
                                          </p:val>
                                        </p:tav>
                                        <p:tav tm="100000">
                                          <p:val>
                                            <p:fltVal val="0"/>
                                          </p:val>
                                        </p:tav>
                                      </p:tavLst>
                                    </p:anim>
                                    <p:animEffect transition="in" filter="fade">
                                      <p:cBhvr>
                                        <p:cTn id="24" dur="500"/>
                                        <p:tgtEl>
                                          <p:spTgt spid="10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p:bldP spid="10249" grpId="0"/>
      <p:bldP spid="1025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38" name="Group 74"/>
          <p:cNvGraphicFramePr>
            <a:graphicFrameLocks noGrp="1"/>
          </p:cNvGraphicFramePr>
          <p:nvPr/>
        </p:nvGraphicFramePr>
        <p:xfrm>
          <a:off x="468313" y="1381125"/>
          <a:ext cx="8137525" cy="5153025"/>
        </p:xfrm>
        <a:graphic>
          <a:graphicData uri="http://schemas.openxmlformats.org/drawingml/2006/table">
            <a:tbl>
              <a:tblPr/>
              <a:tblGrid>
                <a:gridCol w="2713037"/>
                <a:gridCol w="2903538"/>
                <a:gridCol w="2520950"/>
              </a:tblGrid>
              <a:tr h="3444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chemeClr val="tx1"/>
                          </a:solidFill>
                          <a:effectLst/>
                          <a:latin typeface="Times New Roman" pitchFamily="18" charset="0"/>
                          <a:cs typeface="Times New Roman" pitchFamily="18" charset="0"/>
                        </a:rPr>
                        <a:t>Création</a:t>
                      </a:r>
                      <a:endParaRPr kumimoji="0" lang="fr-FR" sz="2400" b="1" i="0" u="none" strike="noStrike" cap="none" normalizeH="0" baseline="0" dirty="0" smtClean="0">
                        <a:ln>
                          <a:noFill/>
                        </a:ln>
                        <a:solidFill>
                          <a:schemeClr val="tx1"/>
                        </a:solidFill>
                        <a:effectLst/>
                        <a:latin typeface="Arial" charset="0"/>
                      </a:endParaRPr>
                    </a:p>
                  </a:txBody>
                  <a:tcPr anchor="ctr" horzOverflow="overflow">
                    <a:lnL cap="flat">
                      <a:noFill/>
                    </a:lnL>
                    <a:lnR>
                      <a:noFill/>
                    </a:lnR>
                    <a:lnT cap="fla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smtClean="0">
                          <a:ln>
                            <a:noFill/>
                          </a:ln>
                          <a:solidFill>
                            <a:schemeClr val="tx1"/>
                          </a:solidFill>
                          <a:effectLst/>
                          <a:latin typeface="Times New Roman" pitchFamily="18" charset="0"/>
                          <a:cs typeface="Times New Roman" pitchFamily="18" charset="0"/>
                        </a:rPr>
                        <a:t>production</a:t>
                      </a:r>
                      <a:endParaRPr kumimoji="0" lang="fr-FR" sz="2400" b="1"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smtClean="0">
                          <a:ln>
                            <a:noFill/>
                          </a:ln>
                          <a:solidFill>
                            <a:schemeClr val="tx1"/>
                          </a:solidFill>
                          <a:effectLst/>
                          <a:latin typeface="Times New Roman" pitchFamily="18" charset="0"/>
                          <a:cs typeface="Times New Roman" pitchFamily="18" charset="0"/>
                        </a:rPr>
                        <a:t>Logistique</a:t>
                      </a:r>
                      <a:endParaRPr kumimoji="0" lang="fr-FR" sz="2400" b="1" i="0" u="none" strike="noStrike" cap="none" normalizeH="0" baseline="0" smtClean="0">
                        <a:ln>
                          <a:noFill/>
                        </a:ln>
                        <a:solidFill>
                          <a:schemeClr val="tx1"/>
                        </a:solidFill>
                        <a:effectLst/>
                        <a:latin typeface="Arial" charset="0"/>
                      </a:endParaRPr>
                    </a:p>
                  </a:txBody>
                  <a:tcPr anchor="ctr" horzOverflow="overflow">
                    <a:lnL>
                      <a:noFill/>
                    </a:lnL>
                    <a:lnR cap="flat">
                      <a:noFill/>
                    </a:lnR>
                    <a:lnT cap="flat">
                      <a:noFill/>
                    </a:lnT>
                    <a:lnB>
                      <a:noFill/>
                    </a:lnB>
                    <a:lnTlToBr>
                      <a:noFill/>
                    </a:lnTlToBr>
                    <a:lnBlToTr>
                      <a:noFill/>
                    </a:lnBlToTr>
                    <a:solidFill>
                      <a:schemeClr val="bg1"/>
                    </a:solidFill>
                  </a:tcPr>
                </a:tc>
              </a:tr>
              <a:tr h="4695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sng" strike="noStrike" cap="none" normalizeH="0" baseline="0" dirty="0" smtClean="0">
                          <a:ln>
                            <a:noFill/>
                          </a:ln>
                          <a:solidFill>
                            <a:schemeClr val="tx1"/>
                          </a:solidFill>
                          <a:effectLst/>
                          <a:latin typeface="Times New Roman" pitchFamily="18" charset="0"/>
                          <a:cs typeface="Times New Roman" pitchFamily="18" charset="0"/>
                        </a:rPr>
                        <a:t>Conception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err="1" smtClean="0">
                          <a:ln>
                            <a:noFill/>
                          </a:ln>
                          <a:solidFill>
                            <a:schemeClr val="tx1"/>
                          </a:solidFill>
                          <a:effectLst/>
                          <a:latin typeface="Times New Roman" pitchFamily="18" charset="0"/>
                          <a:cs typeface="Times New Roman" pitchFamily="18" charset="0"/>
                        </a:rPr>
                        <a:t>Accessoriste</a:t>
                      </a: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 silhouette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Coordinateur d’image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Infographiste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de collection</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de marque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Styliste habillement</a:t>
                      </a:r>
                    </a:p>
                  </a:txBody>
                  <a:tcPr horzOverflow="overflow">
                    <a:lnL cap="flat">
                      <a:noFill/>
                    </a:lnL>
                    <a:lnR>
                      <a:noFill/>
                    </a:lnR>
                    <a:lnT>
                      <a:noFill/>
                    </a:lnT>
                    <a:lnB cap="flat">
                      <a:noFill/>
                    </a:lnB>
                    <a:lnTlToBr>
                      <a:noFill/>
                    </a:lnTlToBr>
                    <a:lnBlToTr>
                      <a:noFill/>
                    </a:lnBlToTr>
                    <a:solidFill>
                      <a:srgbClr val="FF99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sng" strike="noStrike" cap="none" normalizeH="0" baseline="0" dirty="0" smtClean="0">
                          <a:ln>
                            <a:noFill/>
                          </a:ln>
                          <a:solidFill>
                            <a:schemeClr val="tx1"/>
                          </a:solidFill>
                          <a:effectLst/>
                          <a:latin typeface="Times New Roman" pitchFamily="18" charset="0"/>
                          <a:cs typeface="Times New Roman" pitchFamily="18" charset="0"/>
                        </a:rPr>
                        <a:t>Préparation</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Agent des méthodes habillement</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Coupeur industriel</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Modéliste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err="1" smtClean="0">
                          <a:ln>
                            <a:noFill/>
                          </a:ln>
                          <a:solidFill>
                            <a:schemeClr val="tx1"/>
                          </a:solidFill>
                          <a:effectLst/>
                          <a:latin typeface="Times New Roman" pitchFamily="18" charset="0"/>
                          <a:cs typeface="Times New Roman" pitchFamily="18" charset="0"/>
                        </a:rPr>
                        <a:t>Patronneur</a:t>
                      </a: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/gradueur</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matelassier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sng" strike="noStrike" cap="none" normalizeH="0" baseline="0" dirty="0" smtClean="0">
                          <a:ln>
                            <a:noFill/>
                          </a:ln>
                          <a:solidFill>
                            <a:schemeClr val="tx1"/>
                          </a:solidFill>
                          <a:effectLst/>
                          <a:latin typeface="Times New Roman" pitchFamily="18" charset="0"/>
                          <a:cs typeface="Times New Roman" pitchFamily="18" charset="0"/>
                        </a:rPr>
                        <a:t>Fabrication/conduite</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Couturier  industriel </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Distributeur</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atelier de P°</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P°</a:t>
                      </a:r>
                    </a:p>
                  </a:txBody>
                  <a:tcPr anchor="ctr" horzOverflow="overflow">
                    <a:lnL>
                      <a:noFill/>
                    </a:lnL>
                    <a:lnR>
                      <a:noFill/>
                    </a:lnR>
                    <a:lnT>
                      <a:noFill/>
                    </a:lnT>
                    <a:lnB cap="flat">
                      <a:noFill/>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sng" strike="noStrike" cap="none" normalizeH="0" baseline="0" dirty="0" smtClean="0">
                          <a:ln>
                            <a:noFill/>
                          </a:ln>
                          <a:solidFill>
                            <a:schemeClr val="tx1"/>
                          </a:solidFill>
                          <a:effectLst/>
                          <a:latin typeface="Times New Roman" pitchFamily="18" charset="0"/>
                          <a:cs typeface="Times New Roman" pitchFamily="18" charset="0"/>
                        </a:rPr>
                        <a:t>Logistique générale</a:t>
                      </a: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logistique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Agent de plate-forme logistique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Gestionnaire en organisation logistique</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Préparateur des commandes</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approvisionnement</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2000" b="0" i="0" u="none" strike="noStrike" cap="none" normalizeH="0" baseline="0" dirty="0" smtClean="0">
                          <a:ln>
                            <a:noFill/>
                          </a:ln>
                          <a:solidFill>
                            <a:schemeClr val="tx1"/>
                          </a:solidFill>
                          <a:effectLst/>
                          <a:latin typeface="Times New Roman" pitchFamily="18" charset="0"/>
                          <a:cs typeface="Times New Roman" pitchFamily="18" charset="0"/>
                        </a:rPr>
                        <a:t>Responsable expédition</a:t>
                      </a:r>
                    </a:p>
                  </a:txBody>
                  <a:tcPr horzOverflow="overflow">
                    <a:lnL>
                      <a:noFill/>
                    </a:lnL>
                    <a:lnR cap="flat">
                      <a:noFill/>
                    </a:lnR>
                    <a:lnT>
                      <a:noFill/>
                    </a:lnT>
                    <a:lnB cap="flat">
                      <a:noFill/>
                    </a:lnB>
                    <a:lnTlToBr>
                      <a:noFill/>
                    </a:lnTlToBr>
                    <a:lnBlToTr>
                      <a:noFill/>
                    </a:lnBlToTr>
                    <a:solidFill>
                      <a:srgbClr val="00FFFF"/>
                    </a:solidFill>
                  </a:tcPr>
                </a:tc>
              </a:tr>
            </a:tbl>
          </a:graphicData>
        </a:graphic>
      </p:graphicFrame>
      <p:sp>
        <p:nvSpPr>
          <p:cNvPr id="11315" name="AutoShape 51"/>
          <p:cNvSpPr>
            <a:spLocks noChangeArrowheads="1"/>
          </p:cNvSpPr>
          <p:nvPr/>
        </p:nvSpPr>
        <p:spPr bwMode="auto">
          <a:xfrm>
            <a:off x="468313" y="138113"/>
            <a:ext cx="8140700" cy="1065212"/>
          </a:xfrm>
          <a:prstGeom prst="bevel">
            <a:avLst>
              <a:gd name="adj" fmla="val 12500"/>
            </a:avLst>
          </a:prstGeom>
          <a:solidFill>
            <a:srgbClr val="CCFF33"/>
          </a:solidFill>
          <a:ln w="9525">
            <a:noFill/>
            <a:miter lim="800000"/>
            <a:headEnd/>
            <a:tailEnd/>
          </a:ln>
        </p:spPr>
        <p:txBody>
          <a:bodyPr>
            <a:spAutoFit/>
          </a:bodyPr>
          <a:lstStyle/>
          <a:p>
            <a:pPr algn="ctr">
              <a:spcBef>
                <a:spcPct val="50000"/>
              </a:spcBef>
            </a:pPr>
            <a:r>
              <a:rPr lang="fr-FR" sz="2400" b="1"/>
              <a:t>Exemple de cartographie des métiers branche habillement – secteur textile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1315"/>
                                        </p:tgtEl>
                                        <p:attrNameLst>
                                          <p:attrName>style.visibility</p:attrName>
                                        </p:attrNameLst>
                                      </p:cBhvr>
                                      <p:to>
                                        <p:strVal val="visible"/>
                                      </p:to>
                                    </p:set>
                                    <p:anim from="(-#ppt_w/2)" to="(#ppt_x)" calcmode="lin" valueType="num">
                                      <p:cBhvr>
                                        <p:cTn id="7" dur="600" fill="hold">
                                          <p:stCondLst>
                                            <p:cond delay="0"/>
                                          </p:stCondLst>
                                        </p:cTn>
                                        <p:tgtEl>
                                          <p:spTgt spid="11315"/>
                                        </p:tgtEl>
                                        <p:attrNameLst>
                                          <p:attrName>ppt_x</p:attrName>
                                        </p:attrNameLst>
                                      </p:cBhvr>
                                    </p:anim>
                                    <p:anim from="0" to="-1.0" calcmode="lin" valueType="num">
                                      <p:cBhvr>
                                        <p:cTn id="8" dur="200" decel="50000" autoRev="1" fill="hold">
                                          <p:stCondLst>
                                            <p:cond delay="600"/>
                                          </p:stCondLst>
                                        </p:cTn>
                                        <p:tgtEl>
                                          <p:spTgt spid="11315"/>
                                        </p:tgtEl>
                                        <p:attrNameLst>
                                          <p:attrName>xshear</p:attrName>
                                        </p:attrNameLst>
                                      </p:cBhvr>
                                    </p:anim>
                                    <p:animScale>
                                      <p:cBhvr>
                                        <p:cTn id="9" dur="200" decel="100000" autoRev="1" fill="hold">
                                          <p:stCondLst>
                                            <p:cond delay="600"/>
                                          </p:stCondLst>
                                        </p:cTn>
                                        <p:tgtEl>
                                          <p:spTgt spid="11315"/>
                                        </p:tgtEl>
                                      </p:cBhvr>
                                      <p:from x="100000" y="100000"/>
                                      <p:to x="80000" y="100000"/>
                                    </p:animScale>
                                    <p:anim by="(#ppt_h/3+#ppt_w*0.1)" calcmode="lin" valueType="num">
                                      <p:cBhvr additive="sum">
                                        <p:cTn id="10" dur="200" decel="100000" autoRev="1" fill="hold">
                                          <p:stCondLst>
                                            <p:cond delay="600"/>
                                          </p:stCondLst>
                                        </p:cTn>
                                        <p:tgtEl>
                                          <p:spTgt spid="11315"/>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nodeType="clickEffect">
                                  <p:stCondLst>
                                    <p:cond delay="0"/>
                                  </p:stCondLst>
                                  <p:childTnLst>
                                    <p:set>
                                      <p:cBhvr>
                                        <p:cTn id="14" dur="1" fill="hold">
                                          <p:stCondLst>
                                            <p:cond delay="0"/>
                                          </p:stCondLst>
                                        </p:cTn>
                                        <p:tgtEl>
                                          <p:spTgt spid="11338"/>
                                        </p:tgtEl>
                                        <p:attrNameLst>
                                          <p:attrName>style.visibility</p:attrName>
                                        </p:attrNameLst>
                                      </p:cBhvr>
                                      <p:to>
                                        <p:strVal val="visible"/>
                                      </p:to>
                                    </p:set>
                                    <p:anim from="(-#ppt_w/2)" to="(#ppt_x)" calcmode="lin" valueType="num">
                                      <p:cBhvr>
                                        <p:cTn id="15" dur="600" fill="hold">
                                          <p:stCondLst>
                                            <p:cond delay="0"/>
                                          </p:stCondLst>
                                        </p:cTn>
                                        <p:tgtEl>
                                          <p:spTgt spid="11338"/>
                                        </p:tgtEl>
                                        <p:attrNameLst>
                                          <p:attrName>ppt_x</p:attrName>
                                        </p:attrNameLst>
                                      </p:cBhvr>
                                    </p:anim>
                                    <p:anim from="0" to="-1.0" calcmode="lin" valueType="num">
                                      <p:cBhvr>
                                        <p:cTn id="16" dur="200" decel="50000" autoRev="1" fill="hold">
                                          <p:stCondLst>
                                            <p:cond delay="600"/>
                                          </p:stCondLst>
                                        </p:cTn>
                                        <p:tgtEl>
                                          <p:spTgt spid="11338"/>
                                        </p:tgtEl>
                                        <p:attrNameLst>
                                          <p:attrName>xshear</p:attrName>
                                        </p:attrNameLst>
                                      </p:cBhvr>
                                    </p:anim>
                                    <p:animScale>
                                      <p:cBhvr>
                                        <p:cTn id="17" dur="200" decel="100000" autoRev="1" fill="hold">
                                          <p:stCondLst>
                                            <p:cond delay="600"/>
                                          </p:stCondLst>
                                        </p:cTn>
                                        <p:tgtEl>
                                          <p:spTgt spid="11338"/>
                                        </p:tgtEl>
                                      </p:cBhvr>
                                      <p:from x="100000" y="100000"/>
                                      <p:to x="80000" y="100000"/>
                                    </p:animScale>
                                    <p:anim by="(#ppt_h/3+#ppt_w*0.1)" calcmode="lin" valueType="num">
                                      <p:cBhvr additive="sum">
                                        <p:cTn id="18" dur="200" decel="100000" autoRev="1" fill="hold">
                                          <p:stCondLst>
                                            <p:cond delay="600"/>
                                          </p:stCondLst>
                                        </p:cTn>
                                        <p:tgtEl>
                                          <p:spTgt spid="11338"/>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Principaux objectifs d’un répertoire des métiers </a:t>
            </a:r>
            <a:endParaRPr lang="fr-FR" dirty="0"/>
          </a:p>
        </p:txBody>
      </p:sp>
      <p:sp>
        <p:nvSpPr>
          <p:cNvPr id="3" name="Espace réservé du contenu 2"/>
          <p:cNvSpPr>
            <a:spLocks noGrp="1"/>
          </p:cNvSpPr>
          <p:nvPr>
            <p:ph idx="1"/>
          </p:nvPr>
        </p:nvSpPr>
        <p:spPr/>
        <p:txBody>
          <a:bodyPr>
            <a:normAutofit fontScale="92500" lnSpcReduction="20000"/>
          </a:bodyPr>
          <a:lstStyle/>
          <a:p>
            <a:pPr>
              <a:buNone/>
            </a:pPr>
            <a:endParaRPr lang="fr-FR" b="1" dirty="0" smtClean="0"/>
          </a:p>
          <a:p>
            <a:r>
              <a:rPr lang="fr-FR" b="1" dirty="0" smtClean="0"/>
              <a:t>Standardisation :</a:t>
            </a:r>
            <a:r>
              <a:rPr lang="fr-FR" dirty="0" smtClean="0"/>
              <a:t> Définir les rôles et responsabilités pour chaque poste.</a:t>
            </a:r>
          </a:p>
          <a:p>
            <a:r>
              <a:rPr lang="fr-FR" b="1" dirty="0" smtClean="0"/>
              <a:t>Gestion des compétences :</a:t>
            </a:r>
            <a:r>
              <a:rPr lang="fr-FR" dirty="0" smtClean="0"/>
              <a:t> Identifier les compétences requises pour chaque métier.</a:t>
            </a:r>
          </a:p>
          <a:p>
            <a:r>
              <a:rPr lang="fr-FR" b="1" dirty="0" smtClean="0"/>
              <a:t>Orientation professionnelle :</a:t>
            </a:r>
            <a:r>
              <a:rPr lang="fr-FR" dirty="0" smtClean="0"/>
              <a:t> Aider les collaborateurs dans leur évolution de carrière (mobilité, formation, etc.).</a:t>
            </a:r>
          </a:p>
          <a:p>
            <a:r>
              <a:rPr lang="fr-FR" b="1" dirty="0" smtClean="0"/>
              <a:t>Support stratégique :</a:t>
            </a:r>
            <a:r>
              <a:rPr lang="fr-FR" dirty="0" smtClean="0"/>
              <a:t> Accompagner les décisions de recrutement, de formation et d’évolution organisationnelle.</a:t>
            </a:r>
          </a:p>
          <a:p>
            <a:endParaRPr lang="fr-F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22114"/>
          </a:xfrm>
        </p:spPr>
        <p:txBody>
          <a:bodyPr>
            <a:normAutofit fontScale="90000"/>
          </a:bodyPr>
          <a:lstStyle/>
          <a:p>
            <a:r>
              <a:rPr lang="fr-FR" sz="3600" b="1" dirty="0" smtClean="0"/>
              <a:t/>
            </a:r>
            <a:br>
              <a:rPr lang="fr-FR" sz="3600" b="1" dirty="0" smtClean="0"/>
            </a:br>
            <a:r>
              <a:rPr lang="fr-FR" sz="3600" b="1" dirty="0" smtClean="0"/>
              <a:t>Structure typique d’une fiche métier dans un répertoire des métiers :</a:t>
            </a:r>
            <a:br>
              <a:rPr lang="fr-FR" sz="3600" b="1" dirty="0" smtClean="0"/>
            </a:br>
            <a:endParaRPr lang="fr-FR" dirty="0"/>
          </a:p>
        </p:txBody>
      </p:sp>
      <p:sp>
        <p:nvSpPr>
          <p:cNvPr id="3" name="Espace réservé du contenu 2"/>
          <p:cNvSpPr>
            <a:spLocks noGrp="1"/>
          </p:cNvSpPr>
          <p:nvPr>
            <p:ph idx="1"/>
          </p:nvPr>
        </p:nvSpPr>
        <p:spPr/>
        <p:txBody>
          <a:bodyPr>
            <a:normAutofit fontScale="92500"/>
          </a:bodyPr>
          <a:lstStyle/>
          <a:p>
            <a:r>
              <a:rPr lang="fr-FR" b="1" dirty="0" smtClean="0"/>
              <a:t>Titre du métier</a:t>
            </a:r>
            <a:endParaRPr lang="fr-FR" dirty="0" smtClean="0"/>
          </a:p>
          <a:p>
            <a:r>
              <a:rPr lang="fr-FR" b="1" dirty="0" smtClean="0"/>
              <a:t>Mission principale</a:t>
            </a:r>
            <a:endParaRPr lang="fr-FR" dirty="0" smtClean="0"/>
          </a:p>
          <a:p>
            <a:r>
              <a:rPr lang="fr-FR" b="1" dirty="0" smtClean="0"/>
              <a:t>Activités clés</a:t>
            </a:r>
            <a:endParaRPr lang="fr-FR" dirty="0" smtClean="0"/>
          </a:p>
          <a:p>
            <a:r>
              <a:rPr lang="fr-FR" b="1" dirty="0" smtClean="0"/>
              <a:t>Compétences requises</a:t>
            </a:r>
            <a:r>
              <a:rPr lang="fr-FR" dirty="0" smtClean="0"/>
              <a:t> (techniques et comportementales)</a:t>
            </a:r>
          </a:p>
          <a:p>
            <a:r>
              <a:rPr lang="fr-FR" b="1" dirty="0" smtClean="0"/>
              <a:t>Conditions de travail</a:t>
            </a:r>
            <a:endParaRPr lang="fr-FR" dirty="0" smtClean="0"/>
          </a:p>
          <a:p>
            <a:r>
              <a:rPr lang="fr-FR" b="1" dirty="0" smtClean="0"/>
              <a:t>Niveau de qualification/expérience nécessaire</a:t>
            </a:r>
            <a:endParaRPr lang="fr-FR" dirty="0" smtClean="0"/>
          </a:p>
          <a:p>
            <a:r>
              <a:rPr lang="fr-FR" b="1" dirty="0" smtClean="0"/>
              <a:t>Évolution possible</a:t>
            </a:r>
            <a:r>
              <a:rPr lang="fr-FR" dirty="0" smtClean="0"/>
              <a:t> (carrière).</a:t>
            </a:r>
          </a:p>
          <a:p>
            <a:endParaRPr lang="fr-F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1520" y="476672"/>
            <a:ext cx="8892480" cy="5509200"/>
          </a:xfrm>
          <a:prstGeom prst="rect">
            <a:avLst/>
          </a:prstGeom>
        </p:spPr>
        <p:txBody>
          <a:bodyPr wrap="square">
            <a:spAutoFit/>
          </a:bodyPr>
          <a:lstStyle/>
          <a:p>
            <a:r>
              <a:rPr lang="fr-FR" sz="1600" b="1" dirty="0" smtClean="0"/>
              <a:t>Fiche Métier : Développeur(se) Informatique</a:t>
            </a:r>
          </a:p>
          <a:p>
            <a:r>
              <a:rPr lang="fr-FR" sz="1400" b="1" dirty="0" smtClean="0"/>
              <a:t>Titre du métier : Développeur(se) Informatique</a:t>
            </a:r>
          </a:p>
          <a:p>
            <a:r>
              <a:rPr lang="fr-FR" sz="1200" b="1" dirty="0" smtClean="0"/>
              <a:t>Mission principale :</a:t>
            </a:r>
          </a:p>
          <a:p>
            <a:r>
              <a:rPr lang="fr-FR" sz="1200" dirty="0" smtClean="0"/>
              <a:t>Le Développeur Informatique conçoit, développe, teste et maintient des applications logicielles en fonction des besoins des utilisateurs et des exigences techniques. Il participe à la création de solutions informatiques, à leur mise en production, ainsi qu’à leur évolution en fonction des retours utilisateurs et des innovations technologiques.</a:t>
            </a:r>
          </a:p>
          <a:p>
            <a:r>
              <a:rPr lang="fr-FR" sz="1200" b="1" dirty="0" smtClean="0"/>
              <a:t>Activités clés :</a:t>
            </a:r>
          </a:p>
          <a:p>
            <a:r>
              <a:rPr lang="fr-FR" sz="1200" b="1" dirty="0" smtClean="0"/>
              <a:t>Analyse des besoins utilisateurs :</a:t>
            </a:r>
            <a:r>
              <a:rPr lang="fr-FR" sz="1200" dirty="0" smtClean="0"/>
              <a:t> Identifier les besoins fonctionnels et techniques des utilisateurs pour définir les spécifications de l’application.</a:t>
            </a:r>
          </a:p>
          <a:p>
            <a:r>
              <a:rPr lang="fr-FR" sz="1200" b="1" dirty="0" smtClean="0"/>
              <a:t>Conception et développement d’applications :</a:t>
            </a:r>
            <a:r>
              <a:rPr lang="fr-FR" sz="1200" dirty="0" smtClean="0"/>
              <a:t> Programmer en utilisant différents langages de développement (Java, C#, Python, etc.).</a:t>
            </a:r>
          </a:p>
          <a:p>
            <a:r>
              <a:rPr lang="fr-FR" sz="1200" b="1" dirty="0" smtClean="0"/>
              <a:t>Tests et validation :</a:t>
            </a:r>
            <a:r>
              <a:rPr lang="fr-FR" sz="1200" dirty="0" smtClean="0"/>
              <a:t> Effectuer des tests de validation pour vérifier la conformité des solutions développées.</a:t>
            </a:r>
          </a:p>
          <a:p>
            <a:r>
              <a:rPr lang="fr-FR" sz="1200" b="1" dirty="0" smtClean="0"/>
              <a:t>Maintenance et mise à jour des systèmes :</a:t>
            </a:r>
            <a:r>
              <a:rPr lang="fr-FR" sz="1200" dirty="0" smtClean="0"/>
              <a:t> Assurer le suivi et la mise à jour des applications pour garantir leur performance.</a:t>
            </a:r>
          </a:p>
          <a:p>
            <a:r>
              <a:rPr lang="fr-FR" sz="1200" b="1" dirty="0" smtClean="0"/>
              <a:t>Collaboration avec d’autres équipes :</a:t>
            </a:r>
            <a:r>
              <a:rPr lang="fr-FR" sz="1200" dirty="0" smtClean="0"/>
              <a:t> Travailler en étroite collaboration avec les chefs de projets, les testeurs et les équipes techniques.</a:t>
            </a:r>
          </a:p>
          <a:p>
            <a:r>
              <a:rPr lang="fr-FR" sz="1200" b="1" dirty="0" smtClean="0"/>
              <a:t>Compétences requises :</a:t>
            </a:r>
          </a:p>
          <a:p>
            <a:r>
              <a:rPr lang="fr-FR" sz="1200" b="1" dirty="0" smtClean="0"/>
              <a:t>Techniques :</a:t>
            </a:r>
            <a:endParaRPr lang="fr-FR" sz="1200" dirty="0" smtClean="0"/>
          </a:p>
          <a:p>
            <a:pPr lvl="1"/>
            <a:r>
              <a:rPr lang="fr-FR" sz="1200" dirty="0" smtClean="0"/>
              <a:t>Maîtrise des langages de programmation (Java, Python, C++, etc.).</a:t>
            </a:r>
          </a:p>
          <a:p>
            <a:pPr lvl="1"/>
            <a:r>
              <a:rPr lang="fr-FR" sz="1200" dirty="0" smtClean="0"/>
              <a:t>Connaissances en bases de données (SQL, </a:t>
            </a:r>
            <a:r>
              <a:rPr lang="fr-FR" sz="1200" dirty="0" err="1" smtClean="0"/>
              <a:t>NoSQL</a:t>
            </a:r>
            <a:r>
              <a:rPr lang="fr-FR" sz="1200" dirty="0" smtClean="0"/>
              <a:t>).</a:t>
            </a:r>
          </a:p>
          <a:p>
            <a:pPr lvl="1"/>
            <a:r>
              <a:rPr lang="fr-FR" sz="1200" dirty="0" smtClean="0"/>
              <a:t>Familiarité avec les outils de gestion de version (Git, SVN).</a:t>
            </a:r>
          </a:p>
          <a:p>
            <a:r>
              <a:rPr lang="fr-FR" sz="1200" b="1" dirty="0" smtClean="0"/>
              <a:t>Comportementales :</a:t>
            </a:r>
            <a:endParaRPr lang="fr-FR" sz="1200" dirty="0" smtClean="0"/>
          </a:p>
          <a:p>
            <a:pPr lvl="1"/>
            <a:r>
              <a:rPr lang="fr-FR" sz="1200" dirty="0" smtClean="0"/>
              <a:t>Rigueur et organisation.</a:t>
            </a:r>
          </a:p>
          <a:p>
            <a:pPr lvl="1"/>
            <a:r>
              <a:rPr lang="fr-FR" sz="1200" dirty="0" smtClean="0"/>
              <a:t>Esprit d’équipe et capacité à collaborer avec différents services.</a:t>
            </a:r>
          </a:p>
          <a:p>
            <a:pPr lvl="1"/>
            <a:r>
              <a:rPr lang="fr-FR" sz="1200" dirty="0" smtClean="0"/>
              <a:t>Capacité d’analyse et résolution de problèmes complexes.</a:t>
            </a:r>
          </a:p>
          <a:p>
            <a:r>
              <a:rPr lang="fr-FR" sz="1200" b="1" dirty="0" smtClean="0"/>
              <a:t>Conditions de travail :</a:t>
            </a:r>
          </a:p>
          <a:p>
            <a:r>
              <a:rPr lang="fr-FR" sz="1200" dirty="0" smtClean="0"/>
              <a:t>Travail en bureau ou en télétravail, avec des horaires flexibles selon les projets.</a:t>
            </a:r>
          </a:p>
          <a:p>
            <a:r>
              <a:rPr lang="fr-FR" sz="1200" dirty="0" smtClean="0"/>
              <a:t>Collaboration avec des équipes de développement agiles.</a:t>
            </a:r>
          </a:p>
          <a:p>
            <a:r>
              <a:rPr lang="fr-FR" sz="1200" b="1" dirty="0" smtClean="0"/>
              <a:t>Niveau de qualification requis :</a:t>
            </a:r>
          </a:p>
          <a:p>
            <a:r>
              <a:rPr lang="fr-FR" sz="1200" dirty="0" smtClean="0"/>
              <a:t>Bac +3/4 en informatique, génie logiciel ou équivalent. Une première expérience en développement est souhaitée.</a:t>
            </a:r>
          </a:p>
          <a:p>
            <a:r>
              <a:rPr lang="fr-FR" sz="1200" b="1" dirty="0" smtClean="0"/>
              <a:t>Évolution possible  de carrière :</a:t>
            </a:r>
          </a:p>
          <a:p>
            <a:r>
              <a:rPr lang="fr-FR" sz="1200" dirty="0" smtClean="0"/>
              <a:t>Développeur(se) Informatique → Chef(</a:t>
            </a:r>
            <a:r>
              <a:rPr lang="fr-FR" sz="1200" dirty="0" err="1" smtClean="0"/>
              <a:t>fe</a:t>
            </a:r>
            <a:r>
              <a:rPr lang="fr-FR" sz="1200" dirty="0" smtClean="0"/>
              <a:t>) de projet technique → Architecte logiciel</a:t>
            </a:r>
            <a:endParaRPr lang="fr-FR" sz="12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908720"/>
            <a:ext cx="8136904" cy="5078313"/>
          </a:xfrm>
          <a:prstGeom prst="rect">
            <a:avLst/>
          </a:prstGeom>
        </p:spPr>
        <p:txBody>
          <a:bodyPr wrap="square">
            <a:spAutoFit/>
          </a:bodyPr>
          <a:lstStyle/>
          <a:p>
            <a:r>
              <a:rPr lang="fr-FR" sz="2400" b="1" dirty="0" smtClean="0">
                <a:solidFill>
                  <a:schemeClr val="tx2"/>
                </a:solidFill>
              </a:rPr>
              <a:t>Fiche Emploi 1 : Développeur(se) Front-End</a:t>
            </a:r>
          </a:p>
          <a:p>
            <a:endParaRPr lang="fr-FR" sz="2000" b="1" dirty="0" smtClean="0"/>
          </a:p>
          <a:p>
            <a:r>
              <a:rPr lang="fr-FR" sz="2000" b="1" dirty="0" smtClean="0"/>
              <a:t>Mission spécifique :</a:t>
            </a:r>
            <a:r>
              <a:rPr lang="fr-FR" sz="2000" dirty="0" smtClean="0"/>
              <a:t> Concevoir et développer l’interface utilisateur d’une application web, en garantissant une expérience utilisateur optimale.</a:t>
            </a:r>
            <a:br>
              <a:rPr lang="fr-FR" sz="2000" dirty="0" smtClean="0"/>
            </a:br>
            <a:r>
              <a:rPr lang="fr-FR" sz="2000" b="1" dirty="0" smtClean="0"/>
              <a:t>Activités clés :</a:t>
            </a:r>
            <a:endParaRPr lang="fr-FR" sz="2000" dirty="0" smtClean="0"/>
          </a:p>
          <a:p>
            <a:r>
              <a:rPr lang="fr-FR" sz="2000" dirty="0" smtClean="0"/>
              <a:t>Développement des interfaces avec HTML, CSS, JavaScript et des </a:t>
            </a:r>
            <a:r>
              <a:rPr lang="fr-FR" sz="2000" dirty="0" err="1" smtClean="0"/>
              <a:t>frameworks</a:t>
            </a:r>
            <a:r>
              <a:rPr lang="fr-FR" sz="2000" dirty="0" smtClean="0"/>
              <a:t> comme </a:t>
            </a:r>
            <a:r>
              <a:rPr lang="fr-FR" sz="2000" dirty="0" err="1" smtClean="0"/>
              <a:t>React</a:t>
            </a:r>
            <a:r>
              <a:rPr lang="fr-FR" sz="2000" dirty="0" smtClean="0"/>
              <a:t> ou </a:t>
            </a:r>
            <a:r>
              <a:rPr lang="fr-FR" sz="2000" dirty="0" err="1" smtClean="0"/>
              <a:t>Angular</a:t>
            </a:r>
            <a:r>
              <a:rPr lang="fr-FR" sz="2000" dirty="0" smtClean="0"/>
              <a:t>.</a:t>
            </a:r>
          </a:p>
          <a:p>
            <a:r>
              <a:rPr lang="fr-FR" sz="2000" dirty="0" smtClean="0"/>
              <a:t>Optimisation des performances de l’interface pour une navigation fluide.</a:t>
            </a:r>
          </a:p>
          <a:p>
            <a:r>
              <a:rPr lang="fr-FR" sz="2000" dirty="0" smtClean="0"/>
              <a:t>Collaboration avec les designers pour intégrer des éléments visuels et ergonomiques.</a:t>
            </a:r>
            <a:br>
              <a:rPr lang="fr-FR" sz="2000" dirty="0" smtClean="0"/>
            </a:br>
            <a:r>
              <a:rPr lang="fr-FR" sz="2000" b="1" dirty="0" smtClean="0"/>
              <a:t>Compétences requises :</a:t>
            </a:r>
            <a:endParaRPr lang="fr-FR" sz="2000" dirty="0" smtClean="0"/>
          </a:p>
          <a:p>
            <a:r>
              <a:rPr lang="fr-FR" sz="2000" dirty="0" smtClean="0"/>
              <a:t>Maîtrise des langages front-end (HTML, CSS, JavaScript).</a:t>
            </a:r>
          </a:p>
          <a:p>
            <a:r>
              <a:rPr lang="fr-FR" sz="2000" dirty="0" smtClean="0"/>
              <a:t>Expérience avec des </a:t>
            </a:r>
            <a:r>
              <a:rPr lang="fr-FR" sz="2000" dirty="0" err="1" smtClean="0"/>
              <a:t>frameworks</a:t>
            </a:r>
            <a:r>
              <a:rPr lang="fr-FR" sz="2000" dirty="0" smtClean="0"/>
              <a:t> comme </a:t>
            </a:r>
            <a:r>
              <a:rPr lang="fr-FR" sz="2000" dirty="0" err="1" smtClean="0"/>
              <a:t>React</a:t>
            </a:r>
            <a:r>
              <a:rPr lang="fr-FR" sz="2000" dirty="0" smtClean="0"/>
              <a:t>, Vue.js ou </a:t>
            </a:r>
            <a:r>
              <a:rPr lang="fr-FR" sz="2000" dirty="0" err="1" smtClean="0"/>
              <a:t>Angular</a:t>
            </a:r>
            <a:r>
              <a:rPr lang="fr-FR" sz="2000" dirty="0" smtClean="0"/>
              <a:t>.</a:t>
            </a:r>
          </a:p>
          <a:p>
            <a:r>
              <a:rPr lang="fr-FR" sz="2000" dirty="0" smtClean="0"/>
              <a:t>Connaissance des bonnes pratiques UX/UI.</a:t>
            </a:r>
            <a:br>
              <a:rPr lang="fr-FR" sz="2000" dirty="0" smtClean="0"/>
            </a:br>
            <a:r>
              <a:rPr lang="fr-FR" sz="2000" b="1" dirty="0" smtClean="0"/>
              <a:t>Niveau de qualification :</a:t>
            </a:r>
            <a:r>
              <a:rPr lang="fr-FR" sz="2000" dirty="0" smtClean="0"/>
              <a:t/>
            </a:r>
            <a:br>
              <a:rPr lang="fr-FR" sz="2000" dirty="0" smtClean="0"/>
            </a:br>
            <a:r>
              <a:rPr lang="fr-FR" sz="2000" dirty="0" smtClean="0"/>
              <a:t>Bac +3 en informatique, design interactif ou équivalent.</a:t>
            </a:r>
            <a:endParaRPr lang="fr-FR" sz="2000" dirty="0"/>
          </a:p>
        </p:txBody>
      </p:sp>
      <p:sp>
        <p:nvSpPr>
          <p:cNvPr id="3" name="ZoneTexte 2"/>
          <p:cNvSpPr txBox="1"/>
          <p:nvPr/>
        </p:nvSpPr>
        <p:spPr>
          <a:xfrm>
            <a:off x="827584" y="260648"/>
            <a:ext cx="7128792" cy="369332"/>
          </a:xfrm>
          <a:prstGeom prst="rect">
            <a:avLst/>
          </a:prstGeom>
          <a:noFill/>
        </p:spPr>
        <p:txBody>
          <a:bodyPr wrap="square" rtlCol="0">
            <a:spAutoFit/>
          </a:bodyPr>
          <a:lstStyle/>
          <a:p>
            <a:pPr algn="ctr"/>
            <a:r>
              <a:rPr lang="fr-FR" dirty="0" smtClean="0"/>
              <a:t>Exemple de déclinaison de la fiche métier en fiche emploi </a:t>
            </a:r>
            <a:endParaRPr lang="fr-F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548680"/>
            <a:ext cx="8280920" cy="5262979"/>
          </a:xfrm>
          <a:prstGeom prst="rect">
            <a:avLst/>
          </a:prstGeom>
        </p:spPr>
        <p:txBody>
          <a:bodyPr wrap="square">
            <a:spAutoFit/>
          </a:bodyPr>
          <a:lstStyle/>
          <a:p>
            <a:r>
              <a:rPr lang="fr-FR" sz="2800" b="1" dirty="0" smtClean="0">
                <a:solidFill>
                  <a:schemeClr val="tx2"/>
                </a:solidFill>
              </a:rPr>
              <a:t>Fiche Emploi 2 : Développeur(se) Back-End</a:t>
            </a:r>
          </a:p>
          <a:p>
            <a:endParaRPr lang="fr-FR" sz="2800" b="1" dirty="0" smtClean="0"/>
          </a:p>
          <a:p>
            <a:r>
              <a:rPr lang="fr-FR" sz="2000" b="1" dirty="0" smtClean="0"/>
              <a:t>Mission spécifique :</a:t>
            </a:r>
            <a:r>
              <a:rPr lang="fr-FR" sz="2000" dirty="0" smtClean="0"/>
              <a:t> Concevoir et maintenir les services et la logique métier d’une application. Il assure la gestion des bases de données et l’optimisation des performances côté serveur.</a:t>
            </a:r>
            <a:br>
              <a:rPr lang="fr-FR" sz="2000" dirty="0" smtClean="0"/>
            </a:br>
            <a:r>
              <a:rPr lang="fr-FR" sz="2000" b="1" dirty="0" smtClean="0"/>
              <a:t>Activités clés :</a:t>
            </a:r>
            <a:endParaRPr lang="fr-FR" sz="2000" dirty="0" smtClean="0"/>
          </a:p>
          <a:p>
            <a:r>
              <a:rPr lang="fr-FR" sz="2000" dirty="0" smtClean="0"/>
              <a:t>Développement de la logique métier en utilisant des langages comme Java, Python, PHP, etc.</a:t>
            </a:r>
          </a:p>
          <a:p>
            <a:r>
              <a:rPr lang="fr-FR" sz="2000" dirty="0" smtClean="0"/>
              <a:t>Gestion des bases de données et optimisation des requêtes.</a:t>
            </a:r>
          </a:p>
          <a:p>
            <a:r>
              <a:rPr lang="fr-FR" sz="2000" dirty="0" smtClean="0"/>
              <a:t>Intégration des services avec l’interface utilisateur en utilisant des API </a:t>
            </a:r>
            <a:r>
              <a:rPr lang="fr-FR" sz="2000" dirty="0" err="1" smtClean="0"/>
              <a:t>RESTful</a:t>
            </a:r>
            <a:r>
              <a:rPr lang="fr-FR" sz="2000" dirty="0" smtClean="0"/>
              <a:t>.</a:t>
            </a:r>
            <a:br>
              <a:rPr lang="fr-FR" sz="2000" dirty="0" smtClean="0"/>
            </a:br>
            <a:r>
              <a:rPr lang="fr-FR" sz="2000" b="1" dirty="0" smtClean="0"/>
              <a:t>Compétences requises :</a:t>
            </a:r>
            <a:endParaRPr lang="fr-FR" sz="2000" dirty="0" smtClean="0"/>
          </a:p>
          <a:p>
            <a:r>
              <a:rPr lang="fr-FR" sz="2000" dirty="0" smtClean="0"/>
              <a:t>Maîtrise des langages de programmation back-end (Java, Python, PHP, etc.).</a:t>
            </a:r>
          </a:p>
          <a:p>
            <a:r>
              <a:rPr lang="fr-FR" sz="2000" dirty="0" smtClean="0"/>
              <a:t>Connaissance des bases de données relationnelles et non relationnelles.</a:t>
            </a:r>
          </a:p>
          <a:p>
            <a:r>
              <a:rPr lang="fr-FR" sz="2000" dirty="0" smtClean="0"/>
              <a:t>Compétences en gestion de serveurs et en sécurisation des applications.</a:t>
            </a:r>
            <a:br>
              <a:rPr lang="fr-FR" sz="2000" dirty="0" smtClean="0"/>
            </a:br>
            <a:r>
              <a:rPr lang="fr-FR" sz="2000" b="1" dirty="0" smtClean="0"/>
              <a:t>Niveau de qualification :</a:t>
            </a:r>
            <a:r>
              <a:rPr lang="fr-FR" sz="2000" dirty="0" smtClean="0"/>
              <a:t/>
            </a:r>
            <a:br>
              <a:rPr lang="fr-FR" sz="2000" dirty="0" smtClean="0"/>
            </a:br>
            <a:r>
              <a:rPr lang="fr-FR" sz="2000" dirty="0" smtClean="0"/>
              <a:t>Bac +3 en informatique ou génie logiciel.</a:t>
            </a:r>
            <a:endParaRPr lang="fr-FR" sz="20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692696"/>
            <a:ext cx="8640960" cy="5170646"/>
          </a:xfrm>
          <a:prstGeom prst="rect">
            <a:avLst/>
          </a:prstGeom>
          <a:noFill/>
        </p:spPr>
        <p:txBody>
          <a:bodyPr wrap="square">
            <a:spAutoFit/>
          </a:bodyPr>
          <a:lstStyle/>
          <a:p>
            <a:pPr>
              <a:lnSpc>
                <a:spcPct val="150000"/>
              </a:lnSpc>
            </a:pPr>
            <a:r>
              <a:rPr lang="fr-FR" sz="2000" b="1" dirty="0" smtClean="0"/>
              <a:t>Recensement des emplois et des compétences</a:t>
            </a:r>
            <a:r>
              <a:rPr lang="fr-FR" sz="2000" dirty="0" smtClean="0"/>
              <a:t> : Identifier les emplois existants dans l’organisation et les compétences requises pour chaque poste. Cela peut inclure des fiches de poste détaillant les missions, compétences techniques, comportementales, et les qualifications nécessaires.</a:t>
            </a:r>
          </a:p>
          <a:p>
            <a:pPr>
              <a:lnSpc>
                <a:spcPct val="150000"/>
              </a:lnSpc>
            </a:pPr>
            <a:r>
              <a:rPr lang="fr-FR" sz="2000" b="1" dirty="0" smtClean="0"/>
              <a:t>Évaluation des compétences actuelles</a:t>
            </a:r>
            <a:r>
              <a:rPr lang="fr-FR" sz="2000" dirty="0" smtClean="0"/>
              <a:t> : Analyser les compétences réelles des collaborateurs dans leurs rôles actuels (via des bilans de compétences, entretiens individuels, évaluations de performance, tests techniques, etc.).</a:t>
            </a:r>
          </a:p>
          <a:p>
            <a:pPr>
              <a:lnSpc>
                <a:spcPct val="150000"/>
              </a:lnSpc>
            </a:pPr>
            <a:r>
              <a:rPr lang="fr-FR" sz="2000" b="1" dirty="0" smtClean="0"/>
              <a:t>Identification des lacunes</a:t>
            </a:r>
            <a:r>
              <a:rPr lang="fr-FR" sz="2000" dirty="0" smtClean="0"/>
              <a:t> : Identifier les compétences manquantes ou insuffisantes par rapport aux exigences de chaque poste. Cela peut inclure des compétences spécifiques (comme des langages de programmation, des certifications) ou transversales (comme la communication, le leadership).</a:t>
            </a:r>
            <a:endParaRPr lang="fr-FR" sz="2000" dirty="0"/>
          </a:p>
        </p:txBody>
      </p:sp>
      <p:sp>
        <p:nvSpPr>
          <p:cNvPr id="3" name="Rectangle 2"/>
          <p:cNvSpPr/>
          <p:nvPr/>
        </p:nvSpPr>
        <p:spPr>
          <a:xfrm>
            <a:off x="179512" y="188640"/>
            <a:ext cx="8568952" cy="553998"/>
          </a:xfrm>
          <a:prstGeom prst="rect">
            <a:avLst/>
          </a:prstGeom>
          <a:solidFill>
            <a:schemeClr val="bg2"/>
          </a:solidFill>
        </p:spPr>
        <p:txBody>
          <a:bodyPr wrap="square">
            <a:spAutoFit/>
          </a:bodyPr>
          <a:lstStyle/>
          <a:p>
            <a:pPr lvl="0">
              <a:lnSpc>
                <a:spcPct val="150000"/>
              </a:lnSpc>
            </a:pPr>
            <a:r>
              <a:rPr lang="fr-FR" sz="2000" b="1" dirty="0" smtClean="0">
                <a:solidFill>
                  <a:prstClr val="black"/>
                </a:solidFill>
              </a:rPr>
              <a:t>1. État des lieux des emplois et compétences actuels</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descr="Noyer"/>
          <p:cNvSpPr>
            <a:spLocks noGrp="1" noChangeArrowheads="1"/>
          </p:cNvSpPr>
          <p:nvPr>
            <p:ph type="title"/>
          </p:nvPr>
        </p:nvSpPr>
        <p:spPr>
          <a:xfrm>
            <a:off x="536575" y="163513"/>
            <a:ext cx="8229600" cy="1143000"/>
          </a:xfrm>
          <a:solidFill>
            <a:schemeClr val="bg2"/>
          </a:solidFill>
          <a:scene3d>
            <a:camera prst="legacyObliqueBottomLeft"/>
            <a:lightRig rig="legacyFlat3" dir="t"/>
          </a:scene3d>
          <a:sp3d extrusionH="430200" prstMaterial="legacyMatte">
            <a:bevelT w="13500" h="13500" prst="angle"/>
            <a:bevelB w="13500" h="13500" prst="angle"/>
            <a:extrusionClr>
              <a:srgbClr val="663300"/>
            </a:extrusionClr>
          </a:sp3d>
        </p:spPr>
        <p:txBody>
          <a:bodyPr>
            <a:flatTx/>
          </a:bodyPr>
          <a:lstStyle/>
          <a:p>
            <a:r>
              <a:rPr lang="fr-FR" sz="4000" b="1" dirty="0" smtClean="0">
                <a:solidFill>
                  <a:schemeClr val="tx2"/>
                </a:solidFill>
              </a:rPr>
              <a:t>Inventaire des ressources humaines</a:t>
            </a:r>
          </a:p>
        </p:txBody>
      </p:sp>
      <p:sp>
        <p:nvSpPr>
          <p:cNvPr id="32771" name="AutoShape 3"/>
          <p:cNvSpPr>
            <a:spLocks noGrp="1" noChangeArrowheads="1"/>
          </p:cNvSpPr>
          <p:nvPr>
            <p:ph idx="1"/>
          </p:nvPr>
        </p:nvSpPr>
        <p:spPr>
          <a:xfrm>
            <a:off x="425450" y="1647825"/>
            <a:ext cx="8362950" cy="4852988"/>
          </a:xfrm>
          <a:prstGeom prst="roundRect">
            <a:avLst>
              <a:gd name="adj" fmla="val 16667"/>
            </a:avLst>
          </a:prstGeom>
          <a:solidFill>
            <a:schemeClr val="accent1">
              <a:lumMod val="20000"/>
              <a:lumOff val="80000"/>
            </a:schemeClr>
          </a:solidFill>
        </p:spPr>
        <p:txBody>
          <a:bodyPr/>
          <a:lstStyle/>
          <a:p>
            <a:pPr>
              <a:lnSpc>
                <a:spcPct val="90000"/>
              </a:lnSpc>
            </a:pPr>
            <a:r>
              <a:rPr lang="fr-FR" dirty="0" smtClean="0"/>
              <a:t>Recenser les données qualitatives par métier pou par emploi :</a:t>
            </a:r>
          </a:p>
          <a:p>
            <a:pPr lvl="1">
              <a:lnSpc>
                <a:spcPct val="90000"/>
              </a:lnSpc>
            </a:pPr>
            <a:r>
              <a:rPr lang="fr-FR" dirty="0" smtClean="0"/>
              <a:t> âges</a:t>
            </a:r>
          </a:p>
          <a:p>
            <a:pPr lvl="1">
              <a:lnSpc>
                <a:spcPct val="90000"/>
              </a:lnSpc>
            </a:pPr>
            <a:r>
              <a:rPr lang="fr-FR" dirty="0" smtClean="0"/>
              <a:t>Ancienneté dans la structure/emploi</a:t>
            </a:r>
          </a:p>
          <a:p>
            <a:pPr lvl="1">
              <a:lnSpc>
                <a:spcPct val="90000"/>
              </a:lnSpc>
            </a:pPr>
            <a:r>
              <a:rPr lang="fr-FR" dirty="0" smtClean="0"/>
              <a:t>Statuts</a:t>
            </a:r>
          </a:p>
          <a:p>
            <a:pPr lvl="1">
              <a:lnSpc>
                <a:spcPct val="90000"/>
              </a:lnSpc>
            </a:pPr>
            <a:r>
              <a:rPr lang="fr-FR" dirty="0" smtClean="0"/>
              <a:t>Niveaux de formation</a:t>
            </a:r>
          </a:p>
          <a:p>
            <a:pPr lvl="1">
              <a:lnSpc>
                <a:spcPct val="90000"/>
              </a:lnSpc>
            </a:pPr>
            <a:r>
              <a:rPr lang="fr-FR" dirty="0" smtClean="0"/>
              <a:t>Direction ou service d’appartenance</a:t>
            </a:r>
          </a:p>
          <a:p>
            <a:pPr lvl="1">
              <a:lnSpc>
                <a:spcPct val="90000"/>
              </a:lnSpc>
            </a:pPr>
            <a:r>
              <a:rPr lang="fr-FR" dirty="0" smtClean="0"/>
              <a:t>Situation géographique</a:t>
            </a:r>
          </a:p>
          <a:p>
            <a:pPr lvl="1">
              <a:lnSpc>
                <a:spcPct val="90000"/>
              </a:lnSpc>
            </a:pPr>
            <a:r>
              <a:rPr lang="fr-FR" dirty="0" smtClean="0"/>
              <a:t>Flux de départs (hors retraite)</a:t>
            </a:r>
          </a:p>
          <a:p>
            <a:pPr lvl="1">
              <a:lnSpc>
                <a:spcPct val="90000"/>
              </a:lnSpc>
            </a:pPr>
            <a:endParaRPr lang="fr-FR"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fade">
                                      <p:cBhvr>
                                        <p:cTn id="7" dur="1000"/>
                                        <p:tgtEl>
                                          <p:spTgt spid="32770"/>
                                        </p:tgtEl>
                                      </p:cBhvr>
                                    </p:animEffect>
                                    <p:anim calcmode="lin" valueType="num">
                                      <p:cBhvr>
                                        <p:cTn id="8" dur="1000" fill="hold"/>
                                        <p:tgtEl>
                                          <p:spTgt spid="32770"/>
                                        </p:tgtEl>
                                        <p:attrNameLst>
                                          <p:attrName>ppt_x</p:attrName>
                                        </p:attrNameLst>
                                      </p:cBhvr>
                                      <p:tavLst>
                                        <p:tav tm="0">
                                          <p:val>
                                            <p:strVal val="#ppt_x"/>
                                          </p:val>
                                        </p:tav>
                                        <p:tav tm="100000">
                                          <p:val>
                                            <p:strVal val="#ppt_x"/>
                                          </p:val>
                                        </p:tav>
                                      </p:tavLst>
                                    </p:anim>
                                    <p:anim calcmode="lin" valueType="num">
                                      <p:cBhvr>
                                        <p:cTn id="9" dur="900" decel="100000" fill="hold"/>
                                        <p:tgtEl>
                                          <p:spTgt spid="3277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2770"/>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2771">
                                            <p:bg/>
                                          </p:spTgt>
                                        </p:tgtEl>
                                        <p:attrNameLst>
                                          <p:attrName>style.visibility</p:attrName>
                                        </p:attrNameLst>
                                      </p:cBhvr>
                                      <p:to>
                                        <p:strVal val="visible"/>
                                      </p:to>
                                    </p:set>
                                    <p:anim calcmode="lin" valueType="num">
                                      <p:cBhvr>
                                        <p:cTn id="15" dur="1000" fill="hold"/>
                                        <p:tgtEl>
                                          <p:spTgt spid="32771">
                                            <p:bg/>
                                          </p:spTgt>
                                        </p:tgtEl>
                                        <p:attrNameLst>
                                          <p:attrName>ppt_w</p:attrName>
                                        </p:attrNameLst>
                                      </p:cBhvr>
                                      <p:tavLst>
                                        <p:tav tm="0">
                                          <p:val>
                                            <p:fltVal val="0"/>
                                          </p:val>
                                        </p:tav>
                                        <p:tav tm="100000">
                                          <p:val>
                                            <p:strVal val="#ppt_w"/>
                                          </p:val>
                                        </p:tav>
                                      </p:tavLst>
                                    </p:anim>
                                    <p:anim calcmode="lin" valueType="num">
                                      <p:cBhvr>
                                        <p:cTn id="16" dur="1000" fill="hold"/>
                                        <p:tgtEl>
                                          <p:spTgt spid="32771">
                                            <p:bg/>
                                          </p:spTgt>
                                        </p:tgtEl>
                                        <p:attrNameLst>
                                          <p:attrName>ppt_h</p:attrName>
                                        </p:attrNameLst>
                                      </p:cBhvr>
                                      <p:tavLst>
                                        <p:tav tm="0">
                                          <p:val>
                                            <p:fltVal val="0"/>
                                          </p:val>
                                        </p:tav>
                                        <p:tav tm="100000">
                                          <p:val>
                                            <p:strVal val="#ppt_h"/>
                                          </p:val>
                                        </p:tav>
                                      </p:tavLst>
                                    </p:anim>
                                    <p:anim calcmode="lin" valueType="num">
                                      <p:cBhvr>
                                        <p:cTn id="17" dur="1000" fill="hold"/>
                                        <p:tgtEl>
                                          <p:spTgt spid="32771">
                                            <p:bg/>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2771">
                                            <p:bg/>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2771">
                                            <p:txEl>
                                              <p:pRg st="0" end="0"/>
                                            </p:txEl>
                                          </p:spTgt>
                                        </p:tgtEl>
                                        <p:attrNameLst>
                                          <p:attrName>style.visibility</p:attrName>
                                        </p:attrNameLst>
                                      </p:cBhvr>
                                      <p:to>
                                        <p:strVal val="visible"/>
                                      </p:to>
                                    </p:set>
                                    <p:anim calcmode="lin" valueType="num">
                                      <p:cBhvr>
                                        <p:cTn id="23" dur="1000" fill="hold"/>
                                        <p:tgtEl>
                                          <p:spTgt spid="32771">
                                            <p:txEl>
                                              <p:pRg st="0" end="0"/>
                                            </p:txEl>
                                          </p:spTgt>
                                        </p:tgtEl>
                                        <p:attrNameLst>
                                          <p:attrName>ppt_w</p:attrName>
                                        </p:attrNameLst>
                                      </p:cBhvr>
                                      <p:tavLst>
                                        <p:tav tm="0">
                                          <p:val>
                                            <p:fltVal val="0"/>
                                          </p:val>
                                        </p:tav>
                                        <p:tav tm="100000">
                                          <p:val>
                                            <p:strVal val="#ppt_w"/>
                                          </p:val>
                                        </p:tav>
                                      </p:tavLst>
                                    </p:anim>
                                    <p:anim calcmode="lin" valueType="num">
                                      <p:cBhvr>
                                        <p:cTn id="24" dur="1000" fill="hold"/>
                                        <p:tgtEl>
                                          <p:spTgt spid="32771">
                                            <p:txEl>
                                              <p:pRg st="0" end="0"/>
                                            </p:txEl>
                                          </p:spTgt>
                                        </p:tgtEl>
                                        <p:attrNameLst>
                                          <p:attrName>ppt_h</p:attrName>
                                        </p:attrNameLst>
                                      </p:cBhvr>
                                      <p:tavLst>
                                        <p:tav tm="0">
                                          <p:val>
                                            <p:fltVal val="0"/>
                                          </p:val>
                                        </p:tav>
                                        <p:tav tm="100000">
                                          <p:val>
                                            <p:strVal val="#ppt_h"/>
                                          </p:val>
                                        </p:tav>
                                      </p:tavLst>
                                    </p:anim>
                                    <p:anim calcmode="lin" valueType="num">
                                      <p:cBhvr>
                                        <p:cTn id="25" dur="1000" fill="hold"/>
                                        <p:tgtEl>
                                          <p:spTgt spid="32771">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2771">
                                            <p:txEl>
                                              <p:pRg st="0" end="0"/>
                                            </p:txEl>
                                          </p:spTgt>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grpId="0" nodeType="withEffect">
                                  <p:stCondLst>
                                    <p:cond delay="0"/>
                                  </p:stCondLst>
                                  <p:childTnLst>
                                    <p:set>
                                      <p:cBhvr>
                                        <p:cTn id="28" dur="1" fill="hold">
                                          <p:stCondLst>
                                            <p:cond delay="0"/>
                                          </p:stCondLst>
                                        </p:cTn>
                                        <p:tgtEl>
                                          <p:spTgt spid="32771">
                                            <p:txEl>
                                              <p:pRg st="1" end="1"/>
                                            </p:txEl>
                                          </p:spTgt>
                                        </p:tgtEl>
                                        <p:attrNameLst>
                                          <p:attrName>style.visibility</p:attrName>
                                        </p:attrNameLst>
                                      </p:cBhvr>
                                      <p:to>
                                        <p:strVal val="visible"/>
                                      </p:to>
                                    </p:set>
                                    <p:anim calcmode="lin" valueType="num">
                                      <p:cBhvr>
                                        <p:cTn id="29" dur="1000" fill="hold"/>
                                        <p:tgtEl>
                                          <p:spTgt spid="32771">
                                            <p:txEl>
                                              <p:pRg st="1" end="1"/>
                                            </p:txEl>
                                          </p:spTgt>
                                        </p:tgtEl>
                                        <p:attrNameLst>
                                          <p:attrName>ppt_w</p:attrName>
                                        </p:attrNameLst>
                                      </p:cBhvr>
                                      <p:tavLst>
                                        <p:tav tm="0">
                                          <p:val>
                                            <p:fltVal val="0"/>
                                          </p:val>
                                        </p:tav>
                                        <p:tav tm="100000">
                                          <p:val>
                                            <p:strVal val="#ppt_w"/>
                                          </p:val>
                                        </p:tav>
                                      </p:tavLst>
                                    </p:anim>
                                    <p:anim calcmode="lin" valueType="num">
                                      <p:cBhvr>
                                        <p:cTn id="30" dur="1000" fill="hold"/>
                                        <p:tgtEl>
                                          <p:spTgt spid="32771">
                                            <p:txEl>
                                              <p:pRg st="1" end="1"/>
                                            </p:txEl>
                                          </p:spTgt>
                                        </p:tgtEl>
                                        <p:attrNameLst>
                                          <p:attrName>ppt_h</p:attrName>
                                        </p:attrNameLst>
                                      </p:cBhvr>
                                      <p:tavLst>
                                        <p:tav tm="0">
                                          <p:val>
                                            <p:fltVal val="0"/>
                                          </p:val>
                                        </p:tav>
                                        <p:tav tm="100000">
                                          <p:val>
                                            <p:strVal val="#ppt_h"/>
                                          </p:val>
                                        </p:tav>
                                      </p:tavLst>
                                    </p:anim>
                                    <p:anim calcmode="lin" valueType="num">
                                      <p:cBhvr>
                                        <p:cTn id="31" dur="1000" fill="hold"/>
                                        <p:tgtEl>
                                          <p:spTgt spid="32771">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32771">
                                            <p:txEl>
                                              <p:pRg st="1" end="1"/>
                                            </p:txEl>
                                          </p:spTgt>
                                        </p:tgtEl>
                                        <p:attrNameLst>
                                          <p:attrName>ppt_y</p:attrName>
                                        </p:attrNameLst>
                                      </p:cBhvr>
                                      <p:tavLst>
                                        <p:tav tm="0" fmla="#ppt_y+(sin(-2*pi*(1-$))*-#ppt_x+cos(-2*pi*(1-$))*(1-#ppt_y))*(1-$)">
                                          <p:val>
                                            <p:fltVal val="0"/>
                                          </p:val>
                                        </p:tav>
                                        <p:tav tm="100000">
                                          <p:val>
                                            <p:fltVal val="1"/>
                                          </p:val>
                                        </p:tav>
                                      </p:tavLst>
                                    </p:anim>
                                  </p:childTnLst>
                                </p:cTn>
                              </p:par>
                              <p:par>
                                <p:cTn id="33" presetID="15" presetClass="entr" presetSubtype="0" fill="hold" grpId="0" nodeType="withEffect">
                                  <p:stCondLst>
                                    <p:cond delay="0"/>
                                  </p:stCondLst>
                                  <p:childTnLst>
                                    <p:set>
                                      <p:cBhvr>
                                        <p:cTn id="34" dur="1" fill="hold">
                                          <p:stCondLst>
                                            <p:cond delay="0"/>
                                          </p:stCondLst>
                                        </p:cTn>
                                        <p:tgtEl>
                                          <p:spTgt spid="32771">
                                            <p:txEl>
                                              <p:pRg st="2" end="2"/>
                                            </p:txEl>
                                          </p:spTgt>
                                        </p:tgtEl>
                                        <p:attrNameLst>
                                          <p:attrName>style.visibility</p:attrName>
                                        </p:attrNameLst>
                                      </p:cBhvr>
                                      <p:to>
                                        <p:strVal val="visible"/>
                                      </p:to>
                                    </p:set>
                                    <p:anim calcmode="lin" valueType="num">
                                      <p:cBhvr>
                                        <p:cTn id="35" dur="1000" fill="hold"/>
                                        <p:tgtEl>
                                          <p:spTgt spid="32771">
                                            <p:txEl>
                                              <p:pRg st="2" end="2"/>
                                            </p:txEl>
                                          </p:spTgt>
                                        </p:tgtEl>
                                        <p:attrNameLst>
                                          <p:attrName>ppt_w</p:attrName>
                                        </p:attrNameLst>
                                      </p:cBhvr>
                                      <p:tavLst>
                                        <p:tav tm="0">
                                          <p:val>
                                            <p:fltVal val="0"/>
                                          </p:val>
                                        </p:tav>
                                        <p:tav tm="100000">
                                          <p:val>
                                            <p:strVal val="#ppt_w"/>
                                          </p:val>
                                        </p:tav>
                                      </p:tavLst>
                                    </p:anim>
                                    <p:anim calcmode="lin" valueType="num">
                                      <p:cBhvr>
                                        <p:cTn id="36" dur="1000" fill="hold"/>
                                        <p:tgtEl>
                                          <p:spTgt spid="32771">
                                            <p:txEl>
                                              <p:pRg st="2" end="2"/>
                                            </p:txEl>
                                          </p:spTgt>
                                        </p:tgtEl>
                                        <p:attrNameLst>
                                          <p:attrName>ppt_h</p:attrName>
                                        </p:attrNameLst>
                                      </p:cBhvr>
                                      <p:tavLst>
                                        <p:tav tm="0">
                                          <p:val>
                                            <p:fltVal val="0"/>
                                          </p:val>
                                        </p:tav>
                                        <p:tav tm="100000">
                                          <p:val>
                                            <p:strVal val="#ppt_h"/>
                                          </p:val>
                                        </p:tav>
                                      </p:tavLst>
                                    </p:anim>
                                    <p:anim calcmode="lin" valueType="num">
                                      <p:cBhvr>
                                        <p:cTn id="37" dur="1000" fill="hold"/>
                                        <p:tgtEl>
                                          <p:spTgt spid="32771">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32771">
                                            <p:txEl>
                                              <p:pRg st="2" end="2"/>
                                            </p:txEl>
                                          </p:spTgt>
                                        </p:tgtEl>
                                        <p:attrNameLst>
                                          <p:attrName>ppt_y</p:attrName>
                                        </p:attrNameLst>
                                      </p:cBhvr>
                                      <p:tavLst>
                                        <p:tav tm="0" fmla="#ppt_y+(sin(-2*pi*(1-$))*-#ppt_x+cos(-2*pi*(1-$))*(1-#ppt_y))*(1-$)">
                                          <p:val>
                                            <p:fltVal val="0"/>
                                          </p:val>
                                        </p:tav>
                                        <p:tav tm="100000">
                                          <p:val>
                                            <p:fltVal val="1"/>
                                          </p:val>
                                        </p:tav>
                                      </p:tavLst>
                                    </p:anim>
                                  </p:childTnLst>
                                </p:cTn>
                              </p:par>
                              <p:par>
                                <p:cTn id="39" presetID="15" presetClass="entr" presetSubtype="0" fill="hold" grpId="0" nodeType="withEffect">
                                  <p:stCondLst>
                                    <p:cond delay="0"/>
                                  </p:stCondLst>
                                  <p:childTnLst>
                                    <p:set>
                                      <p:cBhvr>
                                        <p:cTn id="40" dur="1" fill="hold">
                                          <p:stCondLst>
                                            <p:cond delay="0"/>
                                          </p:stCondLst>
                                        </p:cTn>
                                        <p:tgtEl>
                                          <p:spTgt spid="32771">
                                            <p:txEl>
                                              <p:pRg st="3" end="3"/>
                                            </p:txEl>
                                          </p:spTgt>
                                        </p:tgtEl>
                                        <p:attrNameLst>
                                          <p:attrName>style.visibility</p:attrName>
                                        </p:attrNameLst>
                                      </p:cBhvr>
                                      <p:to>
                                        <p:strVal val="visible"/>
                                      </p:to>
                                    </p:set>
                                    <p:anim calcmode="lin" valueType="num">
                                      <p:cBhvr>
                                        <p:cTn id="41" dur="1000" fill="hold"/>
                                        <p:tgtEl>
                                          <p:spTgt spid="32771">
                                            <p:txEl>
                                              <p:pRg st="3" end="3"/>
                                            </p:txEl>
                                          </p:spTgt>
                                        </p:tgtEl>
                                        <p:attrNameLst>
                                          <p:attrName>ppt_w</p:attrName>
                                        </p:attrNameLst>
                                      </p:cBhvr>
                                      <p:tavLst>
                                        <p:tav tm="0">
                                          <p:val>
                                            <p:fltVal val="0"/>
                                          </p:val>
                                        </p:tav>
                                        <p:tav tm="100000">
                                          <p:val>
                                            <p:strVal val="#ppt_w"/>
                                          </p:val>
                                        </p:tav>
                                      </p:tavLst>
                                    </p:anim>
                                    <p:anim calcmode="lin" valueType="num">
                                      <p:cBhvr>
                                        <p:cTn id="42" dur="1000" fill="hold"/>
                                        <p:tgtEl>
                                          <p:spTgt spid="32771">
                                            <p:txEl>
                                              <p:pRg st="3" end="3"/>
                                            </p:txEl>
                                          </p:spTgt>
                                        </p:tgtEl>
                                        <p:attrNameLst>
                                          <p:attrName>ppt_h</p:attrName>
                                        </p:attrNameLst>
                                      </p:cBhvr>
                                      <p:tavLst>
                                        <p:tav tm="0">
                                          <p:val>
                                            <p:fltVal val="0"/>
                                          </p:val>
                                        </p:tav>
                                        <p:tav tm="100000">
                                          <p:val>
                                            <p:strVal val="#ppt_h"/>
                                          </p:val>
                                        </p:tav>
                                      </p:tavLst>
                                    </p:anim>
                                    <p:anim calcmode="lin" valueType="num">
                                      <p:cBhvr>
                                        <p:cTn id="43" dur="1000" fill="hold"/>
                                        <p:tgtEl>
                                          <p:spTgt spid="32771">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32771">
                                            <p:txEl>
                                              <p:pRg st="3" end="3"/>
                                            </p:txEl>
                                          </p:spTgt>
                                        </p:tgtEl>
                                        <p:attrNameLst>
                                          <p:attrName>ppt_y</p:attrName>
                                        </p:attrNameLst>
                                      </p:cBhvr>
                                      <p:tavLst>
                                        <p:tav tm="0" fmla="#ppt_y+(sin(-2*pi*(1-$))*-#ppt_x+cos(-2*pi*(1-$))*(1-#ppt_y))*(1-$)">
                                          <p:val>
                                            <p:fltVal val="0"/>
                                          </p:val>
                                        </p:tav>
                                        <p:tav tm="100000">
                                          <p:val>
                                            <p:fltVal val="1"/>
                                          </p:val>
                                        </p:tav>
                                      </p:tavLst>
                                    </p:anim>
                                  </p:childTnLst>
                                </p:cTn>
                              </p:par>
                              <p:par>
                                <p:cTn id="45" presetID="15" presetClass="entr" presetSubtype="0" fill="hold" grpId="0" nodeType="withEffect">
                                  <p:stCondLst>
                                    <p:cond delay="0"/>
                                  </p:stCondLst>
                                  <p:childTnLst>
                                    <p:set>
                                      <p:cBhvr>
                                        <p:cTn id="46" dur="1" fill="hold">
                                          <p:stCondLst>
                                            <p:cond delay="0"/>
                                          </p:stCondLst>
                                        </p:cTn>
                                        <p:tgtEl>
                                          <p:spTgt spid="32771">
                                            <p:txEl>
                                              <p:pRg st="4" end="4"/>
                                            </p:txEl>
                                          </p:spTgt>
                                        </p:tgtEl>
                                        <p:attrNameLst>
                                          <p:attrName>style.visibility</p:attrName>
                                        </p:attrNameLst>
                                      </p:cBhvr>
                                      <p:to>
                                        <p:strVal val="visible"/>
                                      </p:to>
                                    </p:set>
                                    <p:anim calcmode="lin" valueType="num">
                                      <p:cBhvr>
                                        <p:cTn id="47" dur="1000" fill="hold"/>
                                        <p:tgtEl>
                                          <p:spTgt spid="32771">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32771">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32771">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2771">
                                            <p:txEl>
                                              <p:pRg st="4" end="4"/>
                                            </p:txEl>
                                          </p:spTgt>
                                        </p:tgtEl>
                                        <p:attrNameLst>
                                          <p:attrName>ppt_y</p:attrName>
                                        </p:attrNameLst>
                                      </p:cBhvr>
                                      <p:tavLst>
                                        <p:tav tm="0" fmla="#ppt_y+(sin(-2*pi*(1-$))*-#ppt_x+cos(-2*pi*(1-$))*(1-#ppt_y))*(1-$)">
                                          <p:val>
                                            <p:fltVal val="0"/>
                                          </p:val>
                                        </p:tav>
                                        <p:tav tm="100000">
                                          <p:val>
                                            <p:fltVal val="1"/>
                                          </p:val>
                                        </p:tav>
                                      </p:tavLst>
                                    </p:anim>
                                  </p:childTnLst>
                                </p:cTn>
                              </p:par>
                              <p:par>
                                <p:cTn id="51" presetID="15" presetClass="entr" presetSubtype="0" fill="hold" grpId="0" nodeType="withEffect">
                                  <p:stCondLst>
                                    <p:cond delay="0"/>
                                  </p:stCondLst>
                                  <p:childTnLst>
                                    <p:set>
                                      <p:cBhvr>
                                        <p:cTn id="52" dur="1" fill="hold">
                                          <p:stCondLst>
                                            <p:cond delay="0"/>
                                          </p:stCondLst>
                                        </p:cTn>
                                        <p:tgtEl>
                                          <p:spTgt spid="32771">
                                            <p:txEl>
                                              <p:pRg st="5" end="5"/>
                                            </p:txEl>
                                          </p:spTgt>
                                        </p:tgtEl>
                                        <p:attrNameLst>
                                          <p:attrName>style.visibility</p:attrName>
                                        </p:attrNameLst>
                                      </p:cBhvr>
                                      <p:to>
                                        <p:strVal val="visible"/>
                                      </p:to>
                                    </p:set>
                                    <p:anim calcmode="lin" valueType="num">
                                      <p:cBhvr>
                                        <p:cTn id="53" dur="1000" fill="hold"/>
                                        <p:tgtEl>
                                          <p:spTgt spid="32771">
                                            <p:txEl>
                                              <p:pRg st="5" end="5"/>
                                            </p:txEl>
                                          </p:spTgt>
                                        </p:tgtEl>
                                        <p:attrNameLst>
                                          <p:attrName>ppt_w</p:attrName>
                                        </p:attrNameLst>
                                      </p:cBhvr>
                                      <p:tavLst>
                                        <p:tav tm="0">
                                          <p:val>
                                            <p:fltVal val="0"/>
                                          </p:val>
                                        </p:tav>
                                        <p:tav tm="100000">
                                          <p:val>
                                            <p:strVal val="#ppt_w"/>
                                          </p:val>
                                        </p:tav>
                                      </p:tavLst>
                                    </p:anim>
                                    <p:anim calcmode="lin" valueType="num">
                                      <p:cBhvr>
                                        <p:cTn id="54" dur="1000" fill="hold"/>
                                        <p:tgtEl>
                                          <p:spTgt spid="32771">
                                            <p:txEl>
                                              <p:pRg st="5" end="5"/>
                                            </p:txEl>
                                          </p:spTgt>
                                        </p:tgtEl>
                                        <p:attrNameLst>
                                          <p:attrName>ppt_h</p:attrName>
                                        </p:attrNameLst>
                                      </p:cBhvr>
                                      <p:tavLst>
                                        <p:tav tm="0">
                                          <p:val>
                                            <p:fltVal val="0"/>
                                          </p:val>
                                        </p:tav>
                                        <p:tav tm="100000">
                                          <p:val>
                                            <p:strVal val="#ppt_h"/>
                                          </p:val>
                                        </p:tav>
                                      </p:tavLst>
                                    </p:anim>
                                    <p:anim calcmode="lin" valueType="num">
                                      <p:cBhvr>
                                        <p:cTn id="55" dur="1000" fill="hold"/>
                                        <p:tgtEl>
                                          <p:spTgt spid="32771">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6" dur="1000" fill="hold"/>
                                        <p:tgtEl>
                                          <p:spTgt spid="32771">
                                            <p:txEl>
                                              <p:pRg st="5" end="5"/>
                                            </p:txEl>
                                          </p:spTgt>
                                        </p:tgtEl>
                                        <p:attrNameLst>
                                          <p:attrName>ppt_y</p:attrName>
                                        </p:attrNameLst>
                                      </p:cBhvr>
                                      <p:tavLst>
                                        <p:tav tm="0" fmla="#ppt_y+(sin(-2*pi*(1-$))*-#ppt_x+cos(-2*pi*(1-$))*(1-#ppt_y))*(1-$)">
                                          <p:val>
                                            <p:fltVal val="0"/>
                                          </p:val>
                                        </p:tav>
                                        <p:tav tm="100000">
                                          <p:val>
                                            <p:fltVal val="1"/>
                                          </p:val>
                                        </p:tav>
                                      </p:tavLst>
                                    </p:anim>
                                  </p:childTnLst>
                                </p:cTn>
                              </p:par>
                              <p:par>
                                <p:cTn id="57" presetID="15" presetClass="entr" presetSubtype="0" fill="hold" grpId="0" nodeType="withEffect">
                                  <p:stCondLst>
                                    <p:cond delay="0"/>
                                  </p:stCondLst>
                                  <p:childTnLst>
                                    <p:set>
                                      <p:cBhvr>
                                        <p:cTn id="58" dur="1" fill="hold">
                                          <p:stCondLst>
                                            <p:cond delay="0"/>
                                          </p:stCondLst>
                                        </p:cTn>
                                        <p:tgtEl>
                                          <p:spTgt spid="32771">
                                            <p:txEl>
                                              <p:pRg st="6" end="6"/>
                                            </p:txEl>
                                          </p:spTgt>
                                        </p:tgtEl>
                                        <p:attrNameLst>
                                          <p:attrName>style.visibility</p:attrName>
                                        </p:attrNameLst>
                                      </p:cBhvr>
                                      <p:to>
                                        <p:strVal val="visible"/>
                                      </p:to>
                                    </p:set>
                                    <p:anim calcmode="lin" valueType="num">
                                      <p:cBhvr>
                                        <p:cTn id="59" dur="1000" fill="hold"/>
                                        <p:tgtEl>
                                          <p:spTgt spid="32771">
                                            <p:txEl>
                                              <p:pRg st="6" end="6"/>
                                            </p:txEl>
                                          </p:spTgt>
                                        </p:tgtEl>
                                        <p:attrNameLst>
                                          <p:attrName>ppt_w</p:attrName>
                                        </p:attrNameLst>
                                      </p:cBhvr>
                                      <p:tavLst>
                                        <p:tav tm="0">
                                          <p:val>
                                            <p:fltVal val="0"/>
                                          </p:val>
                                        </p:tav>
                                        <p:tav tm="100000">
                                          <p:val>
                                            <p:strVal val="#ppt_w"/>
                                          </p:val>
                                        </p:tav>
                                      </p:tavLst>
                                    </p:anim>
                                    <p:anim calcmode="lin" valueType="num">
                                      <p:cBhvr>
                                        <p:cTn id="60" dur="1000" fill="hold"/>
                                        <p:tgtEl>
                                          <p:spTgt spid="32771">
                                            <p:txEl>
                                              <p:pRg st="6" end="6"/>
                                            </p:txEl>
                                          </p:spTgt>
                                        </p:tgtEl>
                                        <p:attrNameLst>
                                          <p:attrName>ppt_h</p:attrName>
                                        </p:attrNameLst>
                                      </p:cBhvr>
                                      <p:tavLst>
                                        <p:tav tm="0">
                                          <p:val>
                                            <p:fltVal val="0"/>
                                          </p:val>
                                        </p:tav>
                                        <p:tav tm="100000">
                                          <p:val>
                                            <p:strVal val="#ppt_h"/>
                                          </p:val>
                                        </p:tav>
                                      </p:tavLst>
                                    </p:anim>
                                    <p:anim calcmode="lin" valueType="num">
                                      <p:cBhvr>
                                        <p:cTn id="61" dur="1000" fill="hold"/>
                                        <p:tgtEl>
                                          <p:spTgt spid="32771">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62" dur="1000" fill="hold"/>
                                        <p:tgtEl>
                                          <p:spTgt spid="32771">
                                            <p:txEl>
                                              <p:pRg st="6" end="6"/>
                                            </p:txEl>
                                          </p:spTgt>
                                        </p:tgtEl>
                                        <p:attrNameLst>
                                          <p:attrName>ppt_y</p:attrName>
                                        </p:attrNameLst>
                                      </p:cBhvr>
                                      <p:tavLst>
                                        <p:tav tm="0" fmla="#ppt_y+(sin(-2*pi*(1-$))*-#ppt_x+cos(-2*pi*(1-$))*(1-#ppt_y))*(1-$)">
                                          <p:val>
                                            <p:fltVal val="0"/>
                                          </p:val>
                                        </p:tav>
                                        <p:tav tm="100000">
                                          <p:val>
                                            <p:fltVal val="1"/>
                                          </p:val>
                                        </p:tav>
                                      </p:tavLst>
                                    </p:anim>
                                  </p:childTnLst>
                                </p:cTn>
                              </p:par>
                              <p:par>
                                <p:cTn id="63" presetID="15" presetClass="entr" presetSubtype="0" fill="hold" grpId="0" nodeType="withEffect">
                                  <p:stCondLst>
                                    <p:cond delay="0"/>
                                  </p:stCondLst>
                                  <p:childTnLst>
                                    <p:set>
                                      <p:cBhvr>
                                        <p:cTn id="64" dur="1" fill="hold">
                                          <p:stCondLst>
                                            <p:cond delay="0"/>
                                          </p:stCondLst>
                                        </p:cTn>
                                        <p:tgtEl>
                                          <p:spTgt spid="32771">
                                            <p:txEl>
                                              <p:pRg st="7" end="7"/>
                                            </p:txEl>
                                          </p:spTgt>
                                        </p:tgtEl>
                                        <p:attrNameLst>
                                          <p:attrName>style.visibility</p:attrName>
                                        </p:attrNameLst>
                                      </p:cBhvr>
                                      <p:to>
                                        <p:strVal val="visible"/>
                                      </p:to>
                                    </p:set>
                                    <p:anim calcmode="lin" valueType="num">
                                      <p:cBhvr>
                                        <p:cTn id="65" dur="1000" fill="hold"/>
                                        <p:tgtEl>
                                          <p:spTgt spid="32771">
                                            <p:txEl>
                                              <p:pRg st="7" end="7"/>
                                            </p:txEl>
                                          </p:spTgt>
                                        </p:tgtEl>
                                        <p:attrNameLst>
                                          <p:attrName>ppt_w</p:attrName>
                                        </p:attrNameLst>
                                      </p:cBhvr>
                                      <p:tavLst>
                                        <p:tav tm="0">
                                          <p:val>
                                            <p:fltVal val="0"/>
                                          </p:val>
                                        </p:tav>
                                        <p:tav tm="100000">
                                          <p:val>
                                            <p:strVal val="#ppt_w"/>
                                          </p:val>
                                        </p:tav>
                                      </p:tavLst>
                                    </p:anim>
                                    <p:anim calcmode="lin" valueType="num">
                                      <p:cBhvr>
                                        <p:cTn id="66" dur="1000" fill="hold"/>
                                        <p:tgtEl>
                                          <p:spTgt spid="32771">
                                            <p:txEl>
                                              <p:pRg st="7" end="7"/>
                                            </p:txEl>
                                          </p:spTgt>
                                        </p:tgtEl>
                                        <p:attrNameLst>
                                          <p:attrName>ppt_h</p:attrName>
                                        </p:attrNameLst>
                                      </p:cBhvr>
                                      <p:tavLst>
                                        <p:tav tm="0">
                                          <p:val>
                                            <p:fltVal val="0"/>
                                          </p:val>
                                        </p:tav>
                                        <p:tav tm="100000">
                                          <p:val>
                                            <p:strVal val="#ppt_h"/>
                                          </p:val>
                                        </p:tav>
                                      </p:tavLst>
                                    </p:anim>
                                    <p:anim calcmode="lin" valueType="num">
                                      <p:cBhvr>
                                        <p:cTn id="67" dur="1000" fill="hold"/>
                                        <p:tgtEl>
                                          <p:spTgt spid="32771">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68" dur="1000" fill="hold"/>
                                        <p:tgtEl>
                                          <p:spTgt spid="32771">
                                            <p:txEl>
                                              <p:pRg st="7" end="7"/>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1" grpId="0" build="p"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Text Box 5" descr="Noyer"/>
          <p:cNvSpPr txBox="1">
            <a:spLocks noChangeArrowheads="1"/>
          </p:cNvSpPr>
          <p:nvPr/>
        </p:nvSpPr>
        <p:spPr bwMode="auto">
          <a:xfrm>
            <a:off x="179388" y="260350"/>
            <a:ext cx="8713787" cy="457200"/>
          </a:xfrm>
          <a:prstGeom prst="rect">
            <a:avLst/>
          </a:prstGeom>
          <a:solidFill>
            <a:schemeClr val="bg2"/>
          </a:solidFill>
          <a:ln w="9525">
            <a:noFill/>
            <a:miter lim="800000"/>
            <a:headEnd/>
            <a:tailEnd/>
          </a:ln>
        </p:spPr>
        <p:txBody>
          <a:bodyPr>
            <a:spAutoFit/>
          </a:bodyPr>
          <a:lstStyle/>
          <a:p>
            <a:pPr algn="ctr">
              <a:spcBef>
                <a:spcPct val="50000"/>
              </a:spcBef>
            </a:pPr>
            <a:r>
              <a:rPr lang="fr-FR" sz="2400" b="1" dirty="0">
                <a:solidFill>
                  <a:schemeClr val="tx2"/>
                </a:solidFill>
              </a:rPr>
              <a:t>Objectifs </a:t>
            </a:r>
            <a:r>
              <a:rPr lang="fr-FR" sz="2400" b="1" dirty="0" smtClean="0">
                <a:solidFill>
                  <a:schemeClr val="tx2"/>
                </a:solidFill>
              </a:rPr>
              <a:t>de croisement  </a:t>
            </a:r>
            <a:r>
              <a:rPr lang="fr-FR" sz="2400" b="1" dirty="0">
                <a:solidFill>
                  <a:schemeClr val="tx2"/>
                </a:solidFill>
              </a:rPr>
              <a:t>des données qualitatives</a:t>
            </a:r>
            <a:r>
              <a:rPr lang="fr-FR" sz="2400" dirty="0">
                <a:solidFill>
                  <a:schemeClr val="tx2"/>
                </a:solidFill>
              </a:rPr>
              <a:t> </a:t>
            </a:r>
          </a:p>
        </p:txBody>
      </p:sp>
      <p:sp>
        <p:nvSpPr>
          <p:cNvPr id="33798" name="Text Box 6"/>
          <p:cNvSpPr txBox="1">
            <a:spLocks noChangeArrowheads="1"/>
          </p:cNvSpPr>
          <p:nvPr/>
        </p:nvSpPr>
        <p:spPr bwMode="auto">
          <a:xfrm>
            <a:off x="323850" y="908050"/>
            <a:ext cx="8496300" cy="707886"/>
          </a:xfrm>
          <a:prstGeom prst="rect">
            <a:avLst/>
          </a:prstGeom>
          <a:solidFill>
            <a:schemeClr val="bg2"/>
          </a:solidFill>
          <a:ln w="6350">
            <a:noFill/>
            <a:miter lim="800000"/>
            <a:headEnd/>
            <a:tailEnd/>
          </a:ln>
        </p:spPr>
        <p:txBody>
          <a:bodyPr>
            <a:spAutoFit/>
          </a:bodyPr>
          <a:lstStyle/>
          <a:p>
            <a:pPr>
              <a:spcBef>
                <a:spcPct val="50000"/>
              </a:spcBef>
            </a:pPr>
            <a:r>
              <a:rPr lang="fr-FR" sz="2000" b="1" dirty="0"/>
              <a:t>Statuts/niveau de formation : </a:t>
            </a:r>
            <a:r>
              <a:rPr lang="fr-FR" sz="2000" b="1" dirty="0" smtClean="0"/>
              <a:t>permet d’identifier soit une surqualification </a:t>
            </a:r>
            <a:r>
              <a:rPr lang="fr-FR" sz="2000" b="1" dirty="0"/>
              <a:t>ou </a:t>
            </a:r>
            <a:r>
              <a:rPr lang="fr-FR" sz="2000" b="1" dirty="0" smtClean="0"/>
              <a:t>une sous-qualification </a:t>
            </a:r>
            <a:r>
              <a:rPr lang="fr-FR" sz="2000" b="1" dirty="0"/>
              <a:t>?</a:t>
            </a:r>
          </a:p>
        </p:txBody>
      </p:sp>
      <p:sp>
        <p:nvSpPr>
          <p:cNvPr id="33799" name="Text Box 7"/>
          <p:cNvSpPr txBox="1">
            <a:spLocks noChangeArrowheads="1"/>
          </p:cNvSpPr>
          <p:nvPr/>
        </p:nvSpPr>
        <p:spPr bwMode="auto">
          <a:xfrm>
            <a:off x="325438" y="1628775"/>
            <a:ext cx="8567737" cy="707886"/>
          </a:xfrm>
          <a:prstGeom prst="rect">
            <a:avLst/>
          </a:prstGeom>
          <a:solidFill>
            <a:schemeClr val="bg2"/>
          </a:solidFill>
          <a:ln w="9525">
            <a:noFill/>
            <a:miter lim="800000"/>
            <a:headEnd/>
            <a:tailEnd/>
          </a:ln>
        </p:spPr>
        <p:txBody>
          <a:bodyPr>
            <a:spAutoFit/>
          </a:bodyPr>
          <a:lstStyle/>
          <a:p>
            <a:pPr>
              <a:spcBef>
                <a:spcPct val="50000"/>
              </a:spcBef>
            </a:pPr>
            <a:r>
              <a:rPr lang="fr-FR" sz="2000" b="1" dirty="0"/>
              <a:t>Contenu métier-emploi/statut agent : </a:t>
            </a:r>
            <a:r>
              <a:rPr lang="fr-FR" sz="2000" b="1" dirty="0" smtClean="0"/>
              <a:t>permet d’identifier le niveau </a:t>
            </a:r>
            <a:r>
              <a:rPr lang="fr-FR" sz="2000" b="1" dirty="0"/>
              <a:t>de responsabilité </a:t>
            </a:r>
            <a:r>
              <a:rPr lang="fr-FR" sz="2000" b="1" dirty="0" smtClean="0"/>
              <a:t>? La relation </a:t>
            </a:r>
            <a:r>
              <a:rPr lang="fr-FR" sz="2000" b="1" dirty="0"/>
              <a:t>responsabilité/ancienneté ? </a:t>
            </a:r>
          </a:p>
        </p:txBody>
      </p:sp>
      <p:sp>
        <p:nvSpPr>
          <p:cNvPr id="33800" name="Text Box 8"/>
          <p:cNvSpPr txBox="1">
            <a:spLocks noChangeArrowheads="1"/>
          </p:cNvSpPr>
          <p:nvPr/>
        </p:nvSpPr>
        <p:spPr bwMode="auto">
          <a:xfrm>
            <a:off x="309563" y="2924175"/>
            <a:ext cx="8583612" cy="396875"/>
          </a:xfrm>
          <a:prstGeom prst="rect">
            <a:avLst/>
          </a:prstGeom>
          <a:solidFill>
            <a:schemeClr val="bg2"/>
          </a:solidFill>
          <a:ln w="9525">
            <a:noFill/>
            <a:miter lim="800000"/>
            <a:headEnd/>
            <a:tailEnd/>
          </a:ln>
        </p:spPr>
        <p:txBody>
          <a:bodyPr>
            <a:spAutoFit/>
          </a:bodyPr>
          <a:lstStyle/>
          <a:p>
            <a:pPr>
              <a:spcBef>
                <a:spcPct val="50000"/>
              </a:spcBef>
            </a:pPr>
            <a:r>
              <a:rPr lang="fr-FR" sz="2000" b="1" dirty="0"/>
              <a:t>Contenu métier (ou des emplois)/le niveau de formation </a:t>
            </a:r>
            <a:r>
              <a:rPr lang="fr-FR" sz="2000" b="1" dirty="0" smtClean="0"/>
              <a:t>? L’adéquation </a:t>
            </a:r>
            <a:endParaRPr lang="fr-FR" sz="2000" b="1" dirty="0"/>
          </a:p>
        </p:txBody>
      </p:sp>
      <p:sp>
        <p:nvSpPr>
          <p:cNvPr id="33803" name="Text Box 11"/>
          <p:cNvSpPr txBox="1">
            <a:spLocks noChangeArrowheads="1"/>
          </p:cNvSpPr>
          <p:nvPr/>
        </p:nvSpPr>
        <p:spPr bwMode="auto">
          <a:xfrm>
            <a:off x="323528" y="3573016"/>
            <a:ext cx="8582025" cy="701675"/>
          </a:xfrm>
          <a:prstGeom prst="rect">
            <a:avLst/>
          </a:prstGeom>
          <a:solidFill>
            <a:schemeClr val="bg2"/>
          </a:solidFill>
          <a:ln w="9525">
            <a:noFill/>
            <a:miter lim="800000"/>
            <a:headEnd/>
            <a:tailEnd/>
          </a:ln>
        </p:spPr>
        <p:txBody>
          <a:bodyPr>
            <a:spAutoFit/>
          </a:bodyPr>
          <a:lstStyle/>
          <a:p>
            <a:pPr>
              <a:spcBef>
                <a:spcPct val="50000"/>
              </a:spcBef>
            </a:pPr>
            <a:r>
              <a:rPr lang="fr-FR" sz="2000" b="1" dirty="0"/>
              <a:t>Disparités entre régions/directions : la répartition des âges, l’ancienneté...</a:t>
            </a:r>
          </a:p>
        </p:txBody>
      </p:sp>
      <p:sp>
        <p:nvSpPr>
          <p:cNvPr id="33804" name="Text Box 12"/>
          <p:cNvSpPr txBox="1">
            <a:spLocks noChangeArrowheads="1"/>
          </p:cNvSpPr>
          <p:nvPr/>
        </p:nvSpPr>
        <p:spPr bwMode="auto">
          <a:xfrm>
            <a:off x="251520" y="4509120"/>
            <a:ext cx="8582025" cy="400110"/>
          </a:xfrm>
          <a:prstGeom prst="rect">
            <a:avLst/>
          </a:prstGeom>
          <a:solidFill>
            <a:schemeClr val="bg2"/>
          </a:solidFill>
          <a:ln w="9525">
            <a:noFill/>
            <a:miter lim="800000"/>
            <a:headEnd/>
            <a:tailEnd/>
          </a:ln>
        </p:spPr>
        <p:txBody>
          <a:bodyPr>
            <a:spAutoFit/>
          </a:bodyPr>
          <a:lstStyle/>
          <a:p>
            <a:pPr>
              <a:spcBef>
                <a:spcPct val="50000"/>
              </a:spcBef>
            </a:pPr>
            <a:r>
              <a:rPr lang="fr-FR" sz="2000" b="1" dirty="0"/>
              <a:t>Flux de départs : âge, sexe, ancienneté (par métier/famille professionnelle</a:t>
            </a:r>
            <a:r>
              <a:rPr lang="fr-FR" sz="2000" b="1" dirty="0" smtClean="0"/>
              <a:t>) etc.</a:t>
            </a:r>
            <a:endParaRPr lang="fr-FR"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 calcmode="lin" valueType="num">
                                      <p:cBhvr additive="base">
                                        <p:cTn id="7" dur="500" fill="hold"/>
                                        <p:tgtEl>
                                          <p:spTgt spid="33797"/>
                                        </p:tgtEl>
                                        <p:attrNameLst>
                                          <p:attrName>ppt_x</p:attrName>
                                        </p:attrNameLst>
                                      </p:cBhvr>
                                      <p:tavLst>
                                        <p:tav tm="0">
                                          <p:val>
                                            <p:strVal val="#ppt_x"/>
                                          </p:val>
                                        </p:tav>
                                        <p:tav tm="100000">
                                          <p:val>
                                            <p:strVal val="#ppt_x"/>
                                          </p:val>
                                        </p:tav>
                                      </p:tavLst>
                                    </p:anim>
                                    <p:anim calcmode="lin" valueType="num">
                                      <p:cBhvr additive="base">
                                        <p:cTn id="8" dur="500" fill="hold"/>
                                        <p:tgtEl>
                                          <p:spTgt spid="3379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grpId="0" nodeType="clickEffect">
                                  <p:stCondLst>
                                    <p:cond delay="0"/>
                                  </p:stCondLst>
                                  <p:childTnLst>
                                    <p:set>
                                      <p:cBhvr>
                                        <p:cTn id="12" dur="1" fill="hold">
                                          <p:stCondLst>
                                            <p:cond delay="0"/>
                                          </p:stCondLst>
                                        </p:cTn>
                                        <p:tgtEl>
                                          <p:spTgt spid="33798"/>
                                        </p:tgtEl>
                                        <p:attrNameLst>
                                          <p:attrName>style.visibility</p:attrName>
                                        </p:attrNameLst>
                                      </p:cBhvr>
                                      <p:to>
                                        <p:strVal val="visible"/>
                                      </p:to>
                                    </p:set>
                                    <p:anim calcmode="lin" valueType="num">
                                      <p:cBhvr>
                                        <p:cTn id="13" dur="1000" fill="hold"/>
                                        <p:tgtEl>
                                          <p:spTgt spid="33798"/>
                                        </p:tgtEl>
                                        <p:attrNameLst>
                                          <p:attrName>ppt_w</p:attrName>
                                        </p:attrNameLst>
                                      </p:cBhvr>
                                      <p:tavLst>
                                        <p:tav tm="0">
                                          <p:val>
                                            <p:fltVal val="0"/>
                                          </p:val>
                                        </p:tav>
                                        <p:tav tm="100000">
                                          <p:val>
                                            <p:strVal val="#ppt_w"/>
                                          </p:val>
                                        </p:tav>
                                      </p:tavLst>
                                    </p:anim>
                                    <p:anim calcmode="lin" valueType="num">
                                      <p:cBhvr>
                                        <p:cTn id="14" dur="1000" fill="hold"/>
                                        <p:tgtEl>
                                          <p:spTgt spid="33798"/>
                                        </p:tgtEl>
                                        <p:attrNameLst>
                                          <p:attrName>ppt_h</p:attrName>
                                        </p:attrNameLst>
                                      </p:cBhvr>
                                      <p:tavLst>
                                        <p:tav tm="0">
                                          <p:val>
                                            <p:fltVal val="0"/>
                                          </p:val>
                                        </p:tav>
                                        <p:tav tm="100000">
                                          <p:val>
                                            <p:strVal val="#ppt_h"/>
                                          </p:val>
                                        </p:tav>
                                      </p:tavLst>
                                    </p:anim>
                                    <p:anim calcmode="lin" valueType="num">
                                      <p:cBhvr>
                                        <p:cTn id="15" dur="1000" fill="hold"/>
                                        <p:tgtEl>
                                          <p:spTgt spid="33798"/>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3379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33799"/>
                                        </p:tgtEl>
                                        <p:attrNameLst>
                                          <p:attrName>style.visibility</p:attrName>
                                        </p:attrNameLst>
                                      </p:cBhvr>
                                      <p:to>
                                        <p:strVal val="visible"/>
                                      </p:to>
                                    </p:set>
                                    <p:anim calcmode="lin" valueType="num">
                                      <p:cBhvr>
                                        <p:cTn id="21" dur="1000" fill="hold"/>
                                        <p:tgtEl>
                                          <p:spTgt spid="33799"/>
                                        </p:tgtEl>
                                        <p:attrNameLst>
                                          <p:attrName>ppt_w</p:attrName>
                                        </p:attrNameLst>
                                      </p:cBhvr>
                                      <p:tavLst>
                                        <p:tav tm="0">
                                          <p:val>
                                            <p:fltVal val="0"/>
                                          </p:val>
                                        </p:tav>
                                        <p:tav tm="100000">
                                          <p:val>
                                            <p:strVal val="#ppt_w"/>
                                          </p:val>
                                        </p:tav>
                                      </p:tavLst>
                                    </p:anim>
                                    <p:anim calcmode="lin" valueType="num">
                                      <p:cBhvr>
                                        <p:cTn id="22" dur="1000" fill="hold"/>
                                        <p:tgtEl>
                                          <p:spTgt spid="33799"/>
                                        </p:tgtEl>
                                        <p:attrNameLst>
                                          <p:attrName>ppt_h</p:attrName>
                                        </p:attrNameLst>
                                      </p:cBhvr>
                                      <p:tavLst>
                                        <p:tav tm="0">
                                          <p:val>
                                            <p:fltVal val="0"/>
                                          </p:val>
                                        </p:tav>
                                        <p:tav tm="100000">
                                          <p:val>
                                            <p:strVal val="#ppt_h"/>
                                          </p:val>
                                        </p:tav>
                                      </p:tavLst>
                                    </p:anim>
                                    <p:anim calcmode="lin" valueType="num">
                                      <p:cBhvr>
                                        <p:cTn id="23" dur="1000" fill="hold"/>
                                        <p:tgtEl>
                                          <p:spTgt spid="33799"/>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3379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grpId="0" nodeType="clickEffect">
                                  <p:stCondLst>
                                    <p:cond delay="0"/>
                                  </p:stCondLst>
                                  <p:childTnLst>
                                    <p:set>
                                      <p:cBhvr>
                                        <p:cTn id="28" dur="1" fill="hold">
                                          <p:stCondLst>
                                            <p:cond delay="0"/>
                                          </p:stCondLst>
                                        </p:cTn>
                                        <p:tgtEl>
                                          <p:spTgt spid="33800"/>
                                        </p:tgtEl>
                                        <p:attrNameLst>
                                          <p:attrName>style.visibility</p:attrName>
                                        </p:attrNameLst>
                                      </p:cBhvr>
                                      <p:to>
                                        <p:strVal val="visible"/>
                                      </p:to>
                                    </p:set>
                                    <p:anim calcmode="lin" valueType="num">
                                      <p:cBhvr>
                                        <p:cTn id="29" dur="1000" fill="hold"/>
                                        <p:tgtEl>
                                          <p:spTgt spid="33800"/>
                                        </p:tgtEl>
                                        <p:attrNameLst>
                                          <p:attrName>ppt_w</p:attrName>
                                        </p:attrNameLst>
                                      </p:cBhvr>
                                      <p:tavLst>
                                        <p:tav tm="0">
                                          <p:val>
                                            <p:fltVal val="0"/>
                                          </p:val>
                                        </p:tav>
                                        <p:tav tm="100000">
                                          <p:val>
                                            <p:strVal val="#ppt_w"/>
                                          </p:val>
                                        </p:tav>
                                      </p:tavLst>
                                    </p:anim>
                                    <p:anim calcmode="lin" valueType="num">
                                      <p:cBhvr>
                                        <p:cTn id="30" dur="1000" fill="hold"/>
                                        <p:tgtEl>
                                          <p:spTgt spid="33800"/>
                                        </p:tgtEl>
                                        <p:attrNameLst>
                                          <p:attrName>ppt_h</p:attrName>
                                        </p:attrNameLst>
                                      </p:cBhvr>
                                      <p:tavLst>
                                        <p:tav tm="0">
                                          <p:val>
                                            <p:fltVal val="0"/>
                                          </p:val>
                                        </p:tav>
                                        <p:tav tm="100000">
                                          <p:val>
                                            <p:strVal val="#ppt_h"/>
                                          </p:val>
                                        </p:tav>
                                      </p:tavLst>
                                    </p:anim>
                                    <p:anim calcmode="lin" valueType="num">
                                      <p:cBhvr>
                                        <p:cTn id="31" dur="1000" fill="hold"/>
                                        <p:tgtEl>
                                          <p:spTgt spid="33800"/>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3380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grpId="0" nodeType="clickEffect">
                                  <p:stCondLst>
                                    <p:cond delay="0"/>
                                  </p:stCondLst>
                                  <p:childTnLst>
                                    <p:set>
                                      <p:cBhvr>
                                        <p:cTn id="36" dur="1" fill="hold">
                                          <p:stCondLst>
                                            <p:cond delay="0"/>
                                          </p:stCondLst>
                                        </p:cTn>
                                        <p:tgtEl>
                                          <p:spTgt spid="33803"/>
                                        </p:tgtEl>
                                        <p:attrNameLst>
                                          <p:attrName>style.visibility</p:attrName>
                                        </p:attrNameLst>
                                      </p:cBhvr>
                                      <p:to>
                                        <p:strVal val="visible"/>
                                      </p:to>
                                    </p:set>
                                    <p:anim calcmode="lin" valueType="num">
                                      <p:cBhvr>
                                        <p:cTn id="37" dur="500" fill="hold"/>
                                        <p:tgtEl>
                                          <p:spTgt spid="33803"/>
                                        </p:tgtEl>
                                        <p:attrNameLst>
                                          <p:attrName>ppt_w</p:attrName>
                                        </p:attrNameLst>
                                      </p:cBhvr>
                                      <p:tavLst>
                                        <p:tav tm="0">
                                          <p:val>
                                            <p:fltVal val="0"/>
                                          </p:val>
                                        </p:tav>
                                        <p:tav tm="100000">
                                          <p:val>
                                            <p:strVal val="#ppt_w"/>
                                          </p:val>
                                        </p:tav>
                                      </p:tavLst>
                                    </p:anim>
                                    <p:anim calcmode="lin" valueType="num">
                                      <p:cBhvr>
                                        <p:cTn id="38" dur="500" fill="hold"/>
                                        <p:tgtEl>
                                          <p:spTgt spid="33803"/>
                                        </p:tgtEl>
                                        <p:attrNameLst>
                                          <p:attrName>ppt_h</p:attrName>
                                        </p:attrNameLst>
                                      </p:cBhvr>
                                      <p:tavLst>
                                        <p:tav tm="0">
                                          <p:val>
                                            <p:fltVal val="0"/>
                                          </p:val>
                                        </p:tav>
                                        <p:tav tm="100000">
                                          <p:val>
                                            <p:strVal val="#ppt_h"/>
                                          </p:val>
                                        </p:tav>
                                      </p:tavLst>
                                    </p:anim>
                                    <p:anim calcmode="lin" valueType="num">
                                      <p:cBhvr>
                                        <p:cTn id="39" dur="500" fill="hold"/>
                                        <p:tgtEl>
                                          <p:spTgt spid="33803"/>
                                        </p:tgtEl>
                                        <p:attrNameLst>
                                          <p:attrName>style.rotation</p:attrName>
                                        </p:attrNameLst>
                                      </p:cBhvr>
                                      <p:tavLst>
                                        <p:tav tm="0">
                                          <p:val>
                                            <p:fltVal val="360"/>
                                          </p:val>
                                        </p:tav>
                                        <p:tav tm="100000">
                                          <p:val>
                                            <p:fltVal val="0"/>
                                          </p:val>
                                        </p:tav>
                                      </p:tavLst>
                                    </p:anim>
                                    <p:animEffect transition="in" filter="fade">
                                      <p:cBhvr>
                                        <p:cTn id="40" dur="500"/>
                                        <p:tgtEl>
                                          <p:spTgt spid="33803"/>
                                        </p:tgtEl>
                                      </p:cBhvr>
                                    </p:animEffect>
                                  </p:child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33804"/>
                                        </p:tgtEl>
                                        <p:attrNameLst>
                                          <p:attrName>style.visibility</p:attrName>
                                        </p:attrNameLst>
                                      </p:cBhvr>
                                      <p:to>
                                        <p:strVal val="visible"/>
                                      </p:to>
                                    </p:set>
                                    <p:anim calcmode="lin" valueType="num">
                                      <p:cBhvr>
                                        <p:cTn id="45" dur="500" fill="hold"/>
                                        <p:tgtEl>
                                          <p:spTgt spid="33804"/>
                                        </p:tgtEl>
                                        <p:attrNameLst>
                                          <p:attrName>ppt_w</p:attrName>
                                        </p:attrNameLst>
                                      </p:cBhvr>
                                      <p:tavLst>
                                        <p:tav tm="0">
                                          <p:val>
                                            <p:fltVal val="0"/>
                                          </p:val>
                                        </p:tav>
                                        <p:tav tm="100000">
                                          <p:val>
                                            <p:strVal val="#ppt_w"/>
                                          </p:val>
                                        </p:tav>
                                      </p:tavLst>
                                    </p:anim>
                                    <p:anim calcmode="lin" valueType="num">
                                      <p:cBhvr>
                                        <p:cTn id="46" dur="500" fill="hold"/>
                                        <p:tgtEl>
                                          <p:spTgt spid="33804"/>
                                        </p:tgtEl>
                                        <p:attrNameLst>
                                          <p:attrName>ppt_h</p:attrName>
                                        </p:attrNameLst>
                                      </p:cBhvr>
                                      <p:tavLst>
                                        <p:tav tm="0">
                                          <p:val>
                                            <p:fltVal val="0"/>
                                          </p:val>
                                        </p:tav>
                                        <p:tav tm="100000">
                                          <p:val>
                                            <p:strVal val="#ppt_h"/>
                                          </p:val>
                                        </p:tav>
                                      </p:tavLst>
                                    </p:anim>
                                    <p:anim calcmode="lin" valueType="num">
                                      <p:cBhvr>
                                        <p:cTn id="47" dur="500" fill="hold"/>
                                        <p:tgtEl>
                                          <p:spTgt spid="33804"/>
                                        </p:tgtEl>
                                        <p:attrNameLst>
                                          <p:attrName>style.rotation</p:attrName>
                                        </p:attrNameLst>
                                      </p:cBhvr>
                                      <p:tavLst>
                                        <p:tav tm="0">
                                          <p:val>
                                            <p:fltVal val="360"/>
                                          </p:val>
                                        </p:tav>
                                        <p:tav tm="100000">
                                          <p:val>
                                            <p:fltVal val="0"/>
                                          </p:val>
                                        </p:tav>
                                      </p:tavLst>
                                    </p:anim>
                                    <p:animEffect transition="in" filter="fade">
                                      <p:cBhvr>
                                        <p:cTn id="48" dur="500"/>
                                        <p:tgtEl>
                                          <p:spTgt spid="33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nimBg="1"/>
      <p:bldP spid="33798" grpId="0" animBg="1"/>
      <p:bldP spid="33799" grpId="0" animBg="1"/>
      <p:bldP spid="33800" grpId="0" animBg="1"/>
      <p:bldP spid="33803" grpId="0" animBg="1"/>
      <p:bldP spid="3380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250" y="980728"/>
            <a:ext cx="9144000" cy="5170646"/>
          </a:xfrm>
          <a:prstGeom prst="rect">
            <a:avLst/>
          </a:prstGeom>
        </p:spPr>
        <p:txBody>
          <a:bodyPr wrap="square">
            <a:spAutoFit/>
          </a:bodyPr>
          <a:lstStyle/>
          <a:p>
            <a:pPr>
              <a:lnSpc>
                <a:spcPct val="150000"/>
              </a:lnSpc>
              <a:buFont typeface="Wingdings" pitchFamily="2" charset="2"/>
              <a:buChar char="Ø"/>
            </a:pPr>
            <a:r>
              <a:rPr lang="fr-FR" sz="2000" b="1" u="sng" dirty="0" smtClean="0"/>
              <a:t> Anticipation des évolutions du marché</a:t>
            </a:r>
            <a:r>
              <a:rPr lang="fr-FR" sz="2000" u="sng" dirty="0" smtClean="0"/>
              <a:t> </a:t>
            </a:r>
            <a:r>
              <a:rPr lang="fr-FR" sz="2000" dirty="0" smtClean="0"/>
              <a:t>: Analyser les tendances du marché, les évolutions technologiques, les changements économiques, les nouvelles régulations ou les transformations internes de l’organisation qui pourraient affecter les métiers et les compétences.</a:t>
            </a:r>
          </a:p>
          <a:p>
            <a:pPr>
              <a:lnSpc>
                <a:spcPct val="150000"/>
              </a:lnSpc>
              <a:buFont typeface="Wingdings" pitchFamily="2" charset="2"/>
              <a:buChar char="Ø"/>
            </a:pPr>
            <a:r>
              <a:rPr lang="fr-FR" sz="2000" b="1" u="sng" dirty="0" smtClean="0"/>
              <a:t> Évaluation des projets et objectifs stratégiques</a:t>
            </a:r>
            <a:r>
              <a:rPr lang="fr-FR" sz="2000" u="sng" dirty="0" smtClean="0"/>
              <a:t> </a:t>
            </a:r>
            <a:r>
              <a:rPr lang="fr-FR" sz="2000" dirty="0" smtClean="0"/>
              <a:t>: Identifier les projets à venir, les initiatives d’innovation, la transformation numérique, l’expansion géographique, ou toute autre stratégie nécessitant de nouvelles compétences pour soutenir ces projets.</a:t>
            </a:r>
          </a:p>
          <a:p>
            <a:pPr>
              <a:lnSpc>
                <a:spcPct val="150000"/>
              </a:lnSpc>
              <a:buFont typeface="Wingdings" pitchFamily="2" charset="2"/>
              <a:buChar char="Ø"/>
            </a:pPr>
            <a:r>
              <a:rPr lang="fr-FR" sz="2000" b="1" u="sng" dirty="0" smtClean="0"/>
              <a:t> Projection des compétences futures</a:t>
            </a:r>
            <a:r>
              <a:rPr lang="fr-FR" sz="2000" u="sng" dirty="0" smtClean="0"/>
              <a:t> </a:t>
            </a:r>
            <a:r>
              <a:rPr lang="fr-FR" sz="2000" dirty="0" smtClean="0"/>
              <a:t>: Sur la base de ces informations, dresser un profil des compétences nécessaires dans l’avenir pour répondre aux défis à venir. Il s’agit notamment de prévoir les nouvelles compétences, les technologies émergentes ou les compétences transversales (par exemple, l'agilité, la gestion du changement).</a:t>
            </a:r>
            <a:endParaRPr lang="fr-FR" sz="2000" dirty="0"/>
          </a:p>
        </p:txBody>
      </p:sp>
      <p:sp>
        <p:nvSpPr>
          <p:cNvPr id="3" name="Rectangle 2"/>
          <p:cNvSpPr/>
          <p:nvPr/>
        </p:nvSpPr>
        <p:spPr>
          <a:xfrm>
            <a:off x="395536" y="188640"/>
            <a:ext cx="7797750" cy="553998"/>
          </a:xfrm>
          <a:prstGeom prst="rect">
            <a:avLst/>
          </a:prstGeom>
          <a:solidFill>
            <a:schemeClr val="bg2"/>
          </a:solidFill>
        </p:spPr>
        <p:txBody>
          <a:bodyPr wrap="square">
            <a:spAutoFit/>
          </a:bodyPr>
          <a:lstStyle/>
          <a:p>
            <a:pPr lvl="0">
              <a:lnSpc>
                <a:spcPct val="150000"/>
              </a:lnSpc>
            </a:pPr>
            <a:r>
              <a:rPr lang="fr-FR" sz="2000" b="1" dirty="0" smtClean="0">
                <a:solidFill>
                  <a:prstClr val="black"/>
                </a:solidFill>
              </a:rPr>
              <a:t>2. Identification des besoins futurs de l’organisation</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751344"/>
            <a:ext cx="8496944" cy="5632311"/>
          </a:xfrm>
          <a:prstGeom prst="rect">
            <a:avLst/>
          </a:prstGeom>
        </p:spPr>
        <p:txBody>
          <a:bodyPr wrap="square">
            <a:spAutoFit/>
          </a:bodyPr>
          <a:lstStyle/>
          <a:p>
            <a:pPr>
              <a:lnSpc>
                <a:spcPct val="150000"/>
              </a:lnSpc>
            </a:pPr>
            <a:r>
              <a:rPr lang="fr-FR" sz="2000" dirty="0" smtClean="0"/>
              <a:t>Une fois les écarts identifiés, des actions doivent être mises en place pour les combler. Cela peut inclure :</a:t>
            </a:r>
          </a:p>
          <a:p>
            <a:pPr>
              <a:lnSpc>
                <a:spcPct val="150000"/>
              </a:lnSpc>
            </a:pPr>
            <a:r>
              <a:rPr lang="fr-FR" sz="2000" b="1" dirty="0" smtClean="0"/>
              <a:t>Plan de formation et développement des compétences</a:t>
            </a:r>
            <a:r>
              <a:rPr lang="fr-FR" sz="2000" dirty="0" smtClean="0"/>
              <a:t> : Élaborer des </a:t>
            </a:r>
            <a:r>
              <a:rPr lang="fr-FR" sz="2000" b="1" dirty="0" smtClean="0"/>
              <a:t>programmes de formation </a:t>
            </a:r>
            <a:r>
              <a:rPr lang="fr-FR" sz="2000" dirty="0" smtClean="0"/>
              <a:t>pour développer les compétences existantes ou en acquérir de nouvelles.</a:t>
            </a:r>
          </a:p>
          <a:p>
            <a:pPr>
              <a:lnSpc>
                <a:spcPct val="150000"/>
              </a:lnSpc>
            </a:pPr>
            <a:r>
              <a:rPr lang="fr-FR" sz="2000" b="1" dirty="0" smtClean="0"/>
              <a:t>Recrutement</a:t>
            </a:r>
            <a:r>
              <a:rPr lang="fr-FR" sz="2000" dirty="0" smtClean="0"/>
              <a:t> : </a:t>
            </a:r>
            <a:r>
              <a:rPr lang="fr-FR" sz="2000" b="1" dirty="0" smtClean="0"/>
              <a:t>Recruter de nouveaux talents </a:t>
            </a:r>
            <a:r>
              <a:rPr lang="fr-FR" sz="2000" dirty="0" smtClean="0"/>
              <a:t>qui possèdent les compétences spécifiques nécessaires pour répondre aux besoins futurs.</a:t>
            </a:r>
          </a:p>
          <a:p>
            <a:pPr>
              <a:lnSpc>
                <a:spcPct val="150000"/>
              </a:lnSpc>
            </a:pPr>
            <a:r>
              <a:rPr lang="fr-FR" sz="2000" b="1" dirty="0" smtClean="0"/>
              <a:t>Mobilité interne (</a:t>
            </a:r>
            <a:r>
              <a:rPr lang="fr-FR" sz="2000" b="1" dirty="0" err="1" smtClean="0"/>
              <a:t>mobilié</a:t>
            </a:r>
            <a:r>
              <a:rPr lang="fr-FR" sz="2000" b="1" dirty="0" smtClean="0"/>
              <a:t> horizontale ou verticale)</a:t>
            </a:r>
            <a:r>
              <a:rPr lang="fr-FR" sz="2000" dirty="0" smtClean="0"/>
              <a:t> : Encourager la mobilité interne pour réorienter les collaborateurs vers de nouveaux rôles en fonction des compétences acquises.</a:t>
            </a:r>
          </a:p>
          <a:p>
            <a:pPr>
              <a:lnSpc>
                <a:spcPct val="150000"/>
              </a:lnSpc>
            </a:pPr>
            <a:r>
              <a:rPr lang="fr-FR" sz="2000" b="1" dirty="0" smtClean="0"/>
              <a:t>Gestion des talents</a:t>
            </a:r>
            <a:r>
              <a:rPr lang="fr-FR" sz="2000" dirty="0" smtClean="0"/>
              <a:t> : Mettre en place un système de gestion des talents pour détecter et développer les compétences clés au sein de l’organisation.</a:t>
            </a:r>
            <a:endParaRPr lang="fr-FR" sz="2000" dirty="0"/>
          </a:p>
        </p:txBody>
      </p:sp>
      <p:sp>
        <p:nvSpPr>
          <p:cNvPr id="3" name="Rectangle 2"/>
          <p:cNvSpPr/>
          <p:nvPr/>
        </p:nvSpPr>
        <p:spPr>
          <a:xfrm>
            <a:off x="539552" y="116632"/>
            <a:ext cx="7805935" cy="461665"/>
          </a:xfrm>
          <a:prstGeom prst="rect">
            <a:avLst/>
          </a:prstGeom>
          <a:solidFill>
            <a:schemeClr val="bg2"/>
          </a:solidFill>
        </p:spPr>
        <p:txBody>
          <a:bodyPr wrap="square">
            <a:spAutoFit/>
          </a:bodyPr>
          <a:lstStyle/>
          <a:p>
            <a:pPr lvl="0" algn="ctr"/>
            <a:r>
              <a:rPr lang="fr-FR" sz="2400" b="1" dirty="0" smtClean="0">
                <a:solidFill>
                  <a:prstClr val="black"/>
                </a:solidFill>
              </a:rPr>
              <a:t>Actions pour combler les écarts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FFFFFF"/>
                </a:solidFill>
                <a:effectLst/>
                <a:latin typeface="Roboto" pitchFamily="2" charset="0"/>
                <a:cs typeface="Arial" pitchFamily="34" charset="0"/>
              </a:rPr>
              <a:t>Cartographie des métiers de la Blockchain</a:t>
            </a: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600" b="0" i="0" u="none" strike="noStrike" cap="none" normalizeH="0" baseline="0" smtClean="0">
                <a:ln>
                  <a:noFill/>
                </a:ln>
                <a:solidFill>
                  <a:schemeClr val="tx1"/>
                </a:solidFill>
                <a:effectLst/>
                <a:latin typeface="Arial" pitchFamily="34" charset="0"/>
                <a:cs typeface="Arial" pitchFamily="34" charset="0"/>
              </a:rPr>
              <a:t>  </a:t>
            </a:r>
            <a:endParaRPr kumimoji="0" lang="fr-FR" sz="122800" b="0" i="0" u="none" strike="noStrike" cap="none" normalizeH="0" baseline="0" smtClean="0">
              <a:ln>
                <a:noFill/>
              </a:ln>
              <a:solidFill>
                <a:schemeClr val="tx1"/>
              </a:solidFill>
              <a:effectLst/>
              <a:latin typeface="Arial" pitchFamily="34" charset="0"/>
              <a:cs typeface="Arial" pitchFamily="34" charset="0"/>
            </a:endParaRPr>
          </a:p>
        </p:txBody>
      </p:sp>
      <p:pic>
        <p:nvPicPr>
          <p:cNvPr id="22530" name="Picture 2" descr="Cartographie des métiers de la Blockchain 2021"/>
          <p:cNvPicPr>
            <a:picLocks noChangeAspect="1" noChangeArrowheads="1"/>
          </p:cNvPicPr>
          <p:nvPr/>
        </p:nvPicPr>
        <p:blipFill>
          <a:blip r:embed="rId2" cstate="print"/>
          <a:srcRect/>
          <a:stretch>
            <a:fillRect/>
          </a:stretch>
        </p:blipFill>
        <p:spPr bwMode="auto">
          <a:xfrm>
            <a:off x="179512" y="188640"/>
            <a:ext cx="8784975" cy="6247094"/>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1424</TotalTime>
  <Words>2565</Words>
  <Application>Microsoft Office PowerPoint</Application>
  <PresentationFormat>Affichage à l'écran (4:3)</PresentationFormat>
  <Paragraphs>296</Paragraphs>
  <Slides>47</Slides>
  <Notes>0</Notes>
  <HiddenSlides>0</HiddenSlides>
  <MMClips>0</MMClips>
  <ScaleCrop>false</ScaleCrop>
  <HeadingPairs>
    <vt:vector size="4" baseType="variant">
      <vt:variant>
        <vt:lpstr>Thème</vt:lpstr>
      </vt:variant>
      <vt:variant>
        <vt:i4>1</vt:i4>
      </vt:variant>
      <vt:variant>
        <vt:lpstr>Titres des diapositives</vt:lpstr>
      </vt:variant>
      <vt:variant>
        <vt:i4>47</vt:i4>
      </vt:variant>
    </vt:vector>
  </HeadingPairs>
  <TitlesOfParts>
    <vt:vector size="48" baseType="lpstr">
      <vt:lpstr>Thème Office</vt:lpstr>
      <vt:lpstr>Ingénierie des compétences  </vt:lpstr>
      <vt:lpstr>la notion de compétence</vt:lpstr>
      <vt:lpstr>la notion de compétence</vt:lpstr>
      <vt:lpstr>la notion de compétence</vt:lpstr>
      <vt:lpstr> Caractéristiques clés  de la compétence </vt:lpstr>
      <vt:lpstr>Qualification/compétence : quelle différence ? </vt:lpstr>
      <vt:lpstr>la hiérarchisation des compétences</vt:lpstr>
      <vt:lpstr>Hiérarchisation des compétences par niveau de maitrise </vt:lpstr>
      <vt:lpstr>Hiérarchisation des compétences par niveau de maitrise </vt:lpstr>
      <vt:lpstr>Hiérarchisation des compétences par niveau de maitrise </vt:lpstr>
      <vt:lpstr>Hiérarchisation des compétences par niveau de maitrise </vt:lpstr>
      <vt:lpstr> La hiérarchisation des compétences :  par niveau d’efficacité dans l’emploi </vt:lpstr>
      <vt:lpstr>La hiérarchisation des compétences</vt:lpstr>
      <vt:lpstr>La hiérarchisation des compétences</vt:lpstr>
      <vt:lpstr>La hiérarchisation des compétences</vt:lpstr>
      <vt:lpstr>l’ingénierie des compétences</vt:lpstr>
      <vt:lpstr>Principaux objectifs de l’ingénierie des compétences </vt:lpstr>
      <vt:lpstr>Objectifs de l’ingénierie des compétences </vt:lpstr>
      <vt:lpstr>Questions de réflexion …</vt:lpstr>
      <vt:lpstr>Capital Humain et Optimisation</vt:lpstr>
      <vt:lpstr>Capital humain </vt:lpstr>
      <vt:lpstr>L'Optimisation d'un Projet </vt:lpstr>
      <vt:lpstr>L’ingénierie des Compétences et de la Formation : Développer le Capital Humain</vt:lpstr>
      <vt:lpstr>Origine du Concept de Capital Humain </vt:lpstr>
      <vt:lpstr>Les Théoriciens du Capital Humain </vt:lpstr>
      <vt:lpstr>Les Composantes du Capital Humain </vt:lpstr>
      <vt:lpstr>L’ingénierie des compétences : Une démarche au cœur des pratiques RH </vt:lpstr>
      <vt:lpstr>Diapositive 28</vt:lpstr>
      <vt:lpstr>Diapositive 29</vt:lpstr>
      <vt:lpstr>  La Gestion prévisionnelle des emplois et des compétences (GPEC)</vt:lpstr>
      <vt:lpstr>Étapes clés d’une démarche d’ingénierie des compétences </vt:lpstr>
      <vt:lpstr>Analyse des besoins :  l’état des lieux</vt:lpstr>
      <vt:lpstr>le répertoire des métiers</vt:lpstr>
      <vt:lpstr>Le répertoire des métiers : constitution</vt:lpstr>
      <vt:lpstr>Diapositive 35</vt:lpstr>
      <vt:lpstr>Diapositive 36</vt:lpstr>
      <vt:lpstr>Principaux objectifs d’un répertoire des métiers </vt:lpstr>
      <vt:lpstr> Structure typique d’une fiche métier dans un répertoire des métiers : </vt:lpstr>
      <vt:lpstr>Diapositive 39</vt:lpstr>
      <vt:lpstr>Diapositive 40</vt:lpstr>
      <vt:lpstr>Diapositive 41</vt:lpstr>
      <vt:lpstr>Diapositive 42</vt:lpstr>
      <vt:lpstr>Inventaire des ressources humaines</vt:lpstr>
      <vt:lpstr>Diapositive 44</vt:lpstr>
      <vt:lpstr>Diapositive 45</vt:lpstr>
      <vt:lpstr>Diapositive 46</vt:lpstr>
      <vt:lpstr>Diapositive 47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Ingénierie des compétences et de la formation</dc:title>
  <dc:creator>Hp</dc:creator>
  <cp:lastModifiedBy>Hp</cp:lastModifiedBy>
  <cp:revision>19</cp:revision>
  <dcterms:created xsi:type="dcterms:W3CDTF">2024-09-24T22:00:57Z</dcterms:created>
  <dcterms:modified xsi:type="dcterms:W3CDTF">2024-12-19T15:10:31Z</dcterms:modified>
</cp:coreProperties>
</file>